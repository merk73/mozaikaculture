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38C6D6-1BCC-40E6-A617-6E45DDD9A3E9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095500" cy="6858000"/>
          </a:xfrm>
          <a:prstGeom prst="rect">
            <a:avLst/>
          </a:prstGeom>
          <a:solidFill>
            <a:srgbClr val="030303">
              <a:alpha val="80000"/>
            </a:srgbClr>
          </a:solidFill>
          <a:ln w="0">
            <a:solidFill>
              <a:srgbClr val="030303">
                <a:alpha val="8000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B30C1E-A5E3-4EBB-BB91-AC2774D9C0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30303"/>
          </a:solidFill>
          <a:ln w="0">
            <a:solidFill>
              <a:srgbClr val="030303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86EA9D-E676-48A0-B625-FE1D074511B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552450" cy="5715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85800" y="1104900"/>
            <a:ext cx="2305050" cy="8382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1FCFA5-E317-474F-9D7D-4DB2267BF3F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561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Молодёжный просветительский проект</a:t>
            </a:r>
          </a:p>
          <a:p>
            <a:pPr algn="l">
              <a:defRPr sz="21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 коренных народах Дальнего Востока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CDA20F-1E72-4789-AFAA-FED8B648E055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Живые</a:t>
            </a:r>
            <a:r>
              <a:rPr sz="150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события</a:t>
            </a:r>
            <a:r>
              <a:rPr sz="150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+ </a:t>
            </a:r>
            <a:r>
              <a:rPr sz="150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цифровая</a:t>
            </a:r>
            <a:r>
              <a:rPr sz="150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образовательная</a:t>
            </a:r>
            <a:r>
              <a:rPr sz="150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платформа</a:t>
            </a:r>
            <a:endParaRPr sz="1500" b="0" dirty="0">
              <a:solidFill>
                <a:srgbClr val="AAA7A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59ED3FC-C08C-4C38-99C4-42514DB2E80E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2324100" cy="342900"/>
          </a:xfrm>
          <a:prstGeom prst="roundRect">
            <a:avLst>
              <a:gd name="adj" fmla="val 33333"/>
            </a:avLst>
          </a:prstGeom>
          <a:solidFill>
            <a:srgbClr val="202024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0D04DB6-5370-4D8E-BB5F-D1A07706E258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ПРОЕКТ ДЛЯ ПАРТНЁРСТВА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8EF7D1-836D-42F3-BA8A-A2A750B25A1A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Команда</a:t>
            </a:r>
            <a:r>
              <a:rPr sz="1275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проекта</a:t>
            </a:r>
            <a:r>
              <a:rPr sz="1275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«</a:t>
            </a:r>
            <a:r>
              <a:rPr sz="1275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Мозаика</a:t>
            </a:r>
            <a:r>
              <a:rPr sz="1275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культур</a:t>
            </a:r>
            <a:r>
              <a:rPr sz="1275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»</a:t>
            </a:r>
          </a:p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Хабаровск</a:t>
            </a:r>
            <a:r>
              <a:rPr sz="1275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· 2026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A2438B-C698-4BEA-8689-C7577E1A2993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127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E4D3B6D-2D6D-40C3-8176-BCB3067C33F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F11222"/>
                </a:solidFill>
                <a:latin typeface="Aptos"/>
                <a:ea typeface="Aptos"/>
                <a:cs typeface="Aptos"/>
              </a:rPr>
              <a:t>ПОЧЕМУ ПОЯВИЛСЯ ПРОЕКТ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EB7BCD-F711-4827-932C-6417D498642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Культурное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наследие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есть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Современного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входа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в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него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мало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9080D5-D764-49DC-9531-E5E8B35B1C6A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801BF5-920B-453C-9C94-7FD2F5ADBD7A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633FF4-22AE-4E1A-8AD4-DFA4E254AF2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СЛОЖНО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ADE4FC0-6F4B-43C4-8D2E-57802536E87A}"/>
              </a:ext>
            </a:extLst>
          </p:cNvPr>
          <p:cNvSpPr>
            <a:spLocks noGrp="1"/>
          </p:cNvSpPr>
          <p:nvPr/>
        </p:nvSpPr>
        <p:spPr>
          <a:xfrm>
            <a:off x="2419350" y="224790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Материалы часто написаны академично и не рассчитаны на первый контакт.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C1D112-8853-4C8B-AE96-0802ADE7CD86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134CBE-E905-4445-AC85-FAC529ECA5B8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РАЗРОЗНЕННО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E1D88B-2C1F-49F3-8EC8-6E5F8D92FE16}"/>
              </a:ext>
            </a:extLst>
          </p:cNvPr>
          <p:cNvSpPr>
            <a:spLocks noGrp="1"/>
          </p:cNvSpPr>
          <p:nvPr/>
        </p:nvSpPr>
        <p:spPr>
          <a:xfrm>
            <a:off x="2419350" y="3248025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Информация о народах, языках и традициях находится в разных источниках.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E60BE66-3DBE-4D20-A5FC-85E7192A815B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96ED4B3-2A71-4303-AA60-2DA3647D7D1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НЕ ДЛЯ МОЛОДЁЖИ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D8F55B-7BD2-44EA-9CDB-66F840C80FDF}"/>
              </a:ext>
            </a:extLst>
          </p:cNvPr>
          <p:cNvSpPr>
            <a:spLocks noGrp="1"/>
          </p:cNvSpPr>
          <p:nvPr/>
        </p:nvSpPr>
        <p:spPr>
          <a:xfrm>
            <a:off x="2419350" y="42481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Мало форматов, где можно увидеть, попробовать, обсудить и продолжить самому.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348255-A542-49A2-AD32-CC72F9758F2A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A4EA06-4F6C-4AD0-AE04-C6AD8974FDAE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647950" cy="3638550"/>
          </a:xfrm>
          <a:prstGeom prst="roundRect">
            <a:avLst>
              <a:gd name="adj" fmla="val 5755"/>
            </a:avLst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1BEF61B-5994-4085-8341-71A3E2693726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Наша задача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E45488-B966-46D3-8A09-72795075FA45}"/>
              </a:ext>
            </a:extLst>
          </p:cNvPr>
          <p:cNvSpPr>
            <a:spLocks noGrp="1"/>
          </p:cNvSpPr>
          <p:nvPr/>
        </p:nvSpPr>
        <p:spPr>
          <a:xfrm>
            <a:off x="9163050" y="2914650"/>
            <a:ext cx="20002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Сделать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культуры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региона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понятными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, </a:t>
            </a: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современными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и </a:t>
            </a:r>
            <a:r>
              <a:rPr sz="24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живыми</a:t>
            </a:r>
            <a:r>
              <a:rPr sz="24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20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ACAF903-9F3A-419E-B8CF-39A28388F71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МОДЕЛЬ 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6C690D-E241-48E5-8CF9-5F5EAA6D701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Один проект работает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и в событии, и после него.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9D382F-7230-4001-8BB1-F1BD6D5598A7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D45341-49D8-4B00-9475-8FED59CF817D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01E5328-6B29-41E9-A46F-27E6DEE43CF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4819650" cy="2971800"/>
          </a:xfrm>
          <a:prstGeom prst="roundRect">
            <a:avLst>
              <a:gd name="adj" fmla="val 5128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982A630-8316-4179-AB6E-6D8F1352D99A}"/>
              </a:ext>
            </a:extLst>
          </p:cNvPr>
          <p:cNvSpPr>
            <a:spLocks noGrp="1"/>
          </p:cNvSpPr>
          <p:nvPr/>
        </p:nvSpPr>
        <p:spPr>
          <a:xfrm>
            <a:off x="1104900" y="26244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3150" b="0" dirty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10AACE-7034-41CF-B568-9AB835CEF0F9}"/>
              </a:ext>
            </a:extLst>
          </p:cNvPr>
          <p:cNvSpPr>
            <a:spLocks noGrp="1"/>
          </p:cNvSpPr>
          <p:nvPr/>
        </p:nvSpPr>
        <p:spPr>
          <a:xfrm>
            <a:off x="1714500" y="2677049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550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Живой</a:t>
            </a:r>
            <a:r>
              <a:rPr sz="2550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формат</a:t>
            </a:r>
            <a:endParaRPr sz="2550" b="1" dirty="0">
              <a:solidFill>
                <a:srgbClr val="F7F3E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D7BB04-A9D1-42C7-932B-4706AC8497AE}"/>
              </a:ext>
            </a:extLst>
          </p:cNvPr>
          <p:cNvSpPr>
            <a:spLocks noGrp="1"/>
          </p:cNvSpPr>
          <p:nvPr/>
        </p:nvSpPr>
        <p:spPr>
          <a:xfrm>
            <a:off x="971549" y="3524250"/>
            <a:ext cx="4170902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Лекции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выставки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мастер-классы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командные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задания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квизы</a:t>
            </a:r>
            <a:endParaRPr sz="1875" b="1" dirty="0">
              <a:solidFill>
                <a:srgbClr val="F7F3E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A9B367-2121-4725-88CB-F51841EE08C9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381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Первый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контакт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строится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через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участие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 и </a:t>
            </a:r>
            <a:r>
              <a:rPr sz="1350" b="0" dirty="0" err="1">
                <a:solidFill>
                  <a:srgbClr val="AAA7A2"/>
                </a:solidFill>
                <a:latin typeface="Aptos"/>
                <a:ea typeface="Aptos"/>
                <a:cs typeface="Aptos"/>
              </a:rPr>
              <a:t>разговор</a:t>
            </a:r>
            <a:r>
              <a:rPr sz="1350" b="0" dirty="0">
                <a:solidFill>
                  <a:srgbClr val="AAA7A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955E36-B4BA-4046-9128-08739B7FB7B8}"/>
              </a:ext>
            </a:extLst>
          </p:cNvPr>
          <p:cNvSpPr>
            <a:spLocks noGrp="1"/>
          </p:cNvSpPr>
          <p:nvPr/>
        </p:nvSpPr>
        <p:spPr>
          <a:xfrm>
            <a:off x="5505450" y="3724275"/>
            <a:ext cx="1181100" cy="3810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E9597CA-FDB4-4D23-82C9-8574FA939A24}"/>
              </a:ext>
            </a:extLst>
          </p:cNvPr>
          <p:cNvSpPr>
            <a:spLocks noGrp="1"/>
          </p:cNvSpPr>
          <p:nvPr/>
        </p:nvSpPr>
        <p:spPr>
          <a:xfrm>
            <a:off x="6572250" y="3590925"/>
            <a:ext cx="285750" cy="28575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F210C1-B680-4161-91D9-07408B4CB94A}"/>
              </a:ext>
            </a:extLst>
          </p:cNvPr>
          <p:cNvSpPr>
            <a:spLocks noGrp="1"/>
          </p:cNvSpPr>
          <p:nvPr/>
        </p:nvSpPr>
        <p:spPr>
          <a:xfrm>
            <a:off x="6686550" y="2247900"/>
            <a:ext cx="4819650" cy="2971800"/>
          </a:xfrm>
          <a:prstGeom prst="roundRect">
            <a:avLst>
              <a:gd name="adj" fmla="val 5128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2FF4D9-0E88-4C96-BA66-DD67B378C76F}"/>
              </a:ext>
            </a:extLst>
          </p:cNvPr>
          <p:cNvSpPr>
            <a:spLocks noGrp="1"/>
          </p:cNvSpPr>
          <p:nvPr/>
        </p:nvSpPr>
        <p:spPr>
          <a:xfrm>
            <a:off x="6972300" y="26670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3150" b="0" dirty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EA99D7-95D7-4DC3-9153-FE38944F8A65}"/>
              </a:ext>
            </a:extLst>
          </p:cNvPr>
          <p:cNvSpPr>
            <a:spLocks noGrp="1"/>
          </p:cNvSpPr>
          <p:nvPr/>
        </p:nvSpPr>
        <p:spPr>
          <a:xfrm>
            <a:off x="7639050" y="2509751"/>
            <a:ext cx="356794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550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Цифровое</a:t>
            </a:r>
            <a:r>
              <a:rPr sz="2550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продолжение</a:t>
            </a:r>
            <a:endParaRPr sz="2550" b="1" dirty="0">
              <a:solidFill>
                <a:srgbClr val="F7F3E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51235B-8D86-4F93-A8EA-A34C9A56D086}"/>
              </a:ext>
            </a:extLst>
          </p:cNvPr>
          <p:cNvSpPr>
            <a:spLocks noGrp="1"/>
          </p:cNvSpPr>
          <p:nvPr/>
        </p:nvSpPr>
        <p:spPr>
          <a:xfrm>
            <a:off x="6972300" y="3609888"/>
            <a:ext cx="4000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Онлайн-атлас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статьи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карточки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тесты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·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личный</a:t>
            </a:r>
            <a:r>
              <a:rPr sz="1875" b="1" dirty="0">
                <a:solidFill>
                  <a:srgbClr val="F7F3EC"/>
                </a:solidFill>
                <a:latin typeface="Aptos"/>
                <a:ea typeface="Aptos"/>
                <a:cs typeface="Aptos"/>
              </a:rPr>
              <a:t> </a:t>
            </a:r>
            <a:r>
              <a:rPr sz="1875" b="1" dirty="0" err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результат</a:t>
            </a:r>
            <a:endParaRPr sz="1875" b="1" dirty="0">
              <a:solidFill>
                <a:srgbClr val="F7F3E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B2AF89B-FC94-47E4-A458-2A9F3A2A518E}"/>
              </a:ext>
            </a:extLst>
          </p:cNvPr>
          <p:cNvSpPr>
            <a:spLocks noGrp="1"/>
          </p:cNvSpPr>
          <p:nvPr/>
        </p:nvSpPr>
        <p:spPr>
          <a:xfrm>
            <a:off x="6972300" y="4495800"/>
            <a:ext cx="381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Интерес не заканчивается вместе с мероприятием.</a:t>
            </a:r>
          </a:p>
        </p:txBody>
      </p:sp>
    </p:spTree>
    <p:extLst>
      <p:ext uri="{BB962C8B-B14F-4D97-AF65-F5344CB8AC3E}">
        <p14:creationId xmlns:p14="http://schemas.microsoft.com/office/powerpoint/2010/main" val="142560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AA1D818-EA3A-4B5F-A8CD-E597A517554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29 АПРЕЛЯ · ПЕРВОЕ МЕРОПРИЯТИЕ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466E8C-C657-42AE-BAE6-1B911F3E9E6A}"/>
              </a:ext>
            </a:extLst>
          </p:cNvPr>
          <p:cNvSpPr>
            <a:spLocks noGrp="1"/>
          </p:cNvSpPr>
          <p:nvPr/>
        </p:nvSpPr>
        <p:spPr>
          <a:xfrm>
            <a:off x="685800" y="749300"/>
            <a:ext cx="108204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lang="ru-RU" sz="390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НАСЫЩЕННАЯ КУЛЬТУРНАЯ ПРОГРАММА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  <a:endParaRPr lang="ru-RU" sz="3900" b="0" dirty="0">
              <a:solidFill>
                <a:srgbClr val="F7F3EC"/>
              </a:solidFill>
              <a:latin typeface="Leporid"/>
              <a:ea typeface="Leporid"/>
              <a:cs typeface="Leporid"/>
            </a:endParaRP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lang="ru-RU" sz="390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ВЫЕЗДЫ В ВУЗЫ.</a:t>
            </a:r>
            <a:endParaRPr sz="3900" b="0" dirty="0">
              <a:solidFill>
                <a:srgbClr val="F7F3EC"/>
              </a:solidFill>
              <a:latin typeface="Leporid"/>
              <a:ea typeface="Leporid"/>
              <a:cs typeface="Leporid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501FFF-FD3D-4ECC-8122-895CB4B2F13F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endParaRPr sz="1050" b="0" dirty="0">
              <a:solidFill>
                <a:srgbClr val="AAA7A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C3A05F-BE3A-4B8B-AD7E-562EB2B1E4A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0670" b="10670"/>
          <a:stretch>
            <a:fillRect/>
          </a:stretch>
        </p:blipFill>
        <p:spPr>
          <a:xfrm>
            <a:off x="685800" y="2095500"/>
            <a:ext cx="3333750" cy="3810000"/>
          </a:xfrm>
          <a:prstGeom prst="roundRect">
            <a:avLst>
              <a:gd name="adj" fmla="val 4571"/>
            </a:avLst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rcRect t="21808" b="21808"/>
          <a:stretch>
            <a:fillRect/>
          </a:stretch>
        </p:blipFill>
        <p:spPr>
          <a:xfrm>
            <a:off x="4171950" y="2095500"/>
            <a:ext cx="2133600" cy="1828800"/>
          </a:xfrm>
          <a:prstGeom prst="roundRect">
            <a:avLst>
              <a:gd name="adj" fmla="val 6250"/>
            </a:avLst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5"/>
          <a:srcRect t="18326" b="18326"/>
          <a:stretch>
            <a:fillRect/>
          </a:stretch>
        </p:blipFill>
        <p:spPr>
          <a:xfrm>
            <a:off x="4171950" y="4076700"/>
            <a:ext cx="2133600" cy="1828800"/>
          </a:xfrm>
          <a:prstGeom prst="roundRect">
            <a:avLst>
              <a:gd name="adj" fmla="val 6250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3EE22F-20F7-449E-9C57-9C669462FE65}"/>
              </a:ext>
            </a:extLst>
          </p:cNvPr>
          <p:cNvSpPr>
            <a:spLocks noGrp="1"/>
          </p:cNvSpPr>
          <p:nvPr/>
        </p:nvSpPr>
        <p:spPr>
          <a:xfrm>
            <a:off x="6819900" y="2171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В одной встрече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184D65-0296-4565-9C32-E8A98DF1B1BB}"/>
              </a:ext>
            </a:extLst>
          </p:cNvPr>
          <p:cNvSpPr>
            <a:spLocks noGrp="1"/>
          </p:cNvSpPr>
          <p:nvPr/>
        </p:nvSpPr>
        <p:spPr>
          <a:xfrm>
            <a:off x="6819900" y="2686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E0FAAF-CA57-4350-AB27-A2EC97F8193D}"/>
              </a:ext>
            </a:extLst>
          </p:cNvPr>
          <p:cNvSpPr>
            <a:spLocks noGrp="1"/>
          </p:cNvSpPr>
          <p:nvPr/>
        </p:nvSpPr>
        <p:spPr>
          <a:xfrm>
            <a:off x="7372350" y="26479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просветительская лекция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B465D83-5360-452F-A726-0A49EB45CC87}"/>
              </a:ext>
            </a:extLst>
          </p:cNvPr>
          <p:cNvSpPr>
            <a:spLocks noGrp="1"/>
          </p:cNvSpPr>
          <p:nvPr/>
        </p:nvSpPr>
        <p:spPr>
          <a:xfrm>
            <a:off x="7372350" y="32385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6C4CFE-9B93-442B-AE1C-0D40523738F8}"/>
              </a:ext>
            </a:extLst>
          </p:cNvPr>
          <p:cNvSpPr>
            <a:spLocks noGrp="1"/>
          </p:cNvSpPr>
          <p:nvPr/>
        </p:nvSpPr>
        <p:spPr>
          <a:xfrm>
            <a:off x="6819900" y="3371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4F521CB-F45F-4D18-BC8E-FBC252D56507}"/>
              </a:ext>
            </a:extLst>
          </p:cNvPr>
          <p:cNvSpPr>
            <a:spLocks noGrp="1"/>
          </p:cNvSpPr>
          <p:nvPr/>
        </p:nvSpPr>
        <p:spPr>
          <a:xfrm>
            <a:off x="7372350" y="33337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знакомство с культурными предметами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02851B-E3F5-4970-8CE5-B8EF509F151B}"/>
              </a:ext>
            </a:extLst>
          </p:cNvPr>
          <p:cNvSpPr>
            <a:spLocks noGrp="1"/>
          </p:cNvSpPr>
          <p:nvPr/>
        </p:nvSpPr>
        <p:spPr>
          <a:xfrm>
            <a:off x="7372350" y="39243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5EE182-78C9-4971-82D7-3CEE3F6E1510}"/>
              </a:ext>
            </a:extLst>
          </p:cNvPr>
          <p:cNvSpPr>
            <a:spLocks noGrp="1"/>
          </p:cNvSpPr>
          <p:nvPr/>
        </p:nvSpPr>
        <p:spPr>
          <a:xfrm>
            <a:off x="6819900" y="4057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78C812-3D35-4C7B-AB38-909F0021A6D5}"/>
              </a:ext>
            </a:extLst>
          </p:cNvPr>
          <p:cNvSpPr>
            <a:spLocks noGrp="1"/>
          </p:cNvSpPr>
          <p:nvPr/>
        </p:nvSpPr>
        <p:spPr>
          <a:xfrm>
            <a:off x="7372350" y="40195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практические и командные задания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F2E5FAF-C714-4DA9-85C4-F5AC5731441A}"/>
              </a:ext>
            </a:extLst>
          </p:cNvPr>
          <p:cNvSpPr>
            <a:spLocks noGrp="1"/>
          </p:cNvSpPr>
          <p:nvPr/>
        </p:nvSpPr>
        <p:spPr>
          <a:xfrm>
            <a:off x="7372350" y="46101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C7AD3EC-B763-423B-9AD6-F121F1567771}"/>
              </a:ext>
            </a:extLst>
          </p:cNvPr>
          <p:cNvSpPr>
            <a:spLocks noGrp="1"/>
          </p:cNvSpPr>
          <p:nvPr/>
        </p:nvSpPr>
        <p:spPr>
          <a:xfrm>
            <a:off x="6819900" y="47434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9F3D88D-CF74-4012-87DC-3EAE50D8B474}"/>
              </a:ext>
            </a:extLst>
          </p:cNvPr>
          <p:cNvSpPr>
            <a:spLocks noGrp="1"/>
          </p:cNvSpPr>
          <p:nvPr/>
        </p:nvSpPr>
        <p:spPr>
          <a:xfrm>
            <a:off x="7372350" y="47053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тематический квиз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51B7DB3-5A05-4E8B-823A-6A7AB54B2122}"/>
              </a:ext>
            </a:extLst>
          </p:cNvPr>
          <p:cNvSpPr>
            <a:spLocks noGrp="1"/>
          </p:cNvSpPr>
          <p:nvPr/>
        </p:nvSpPr>
        <p:spPr>
          <a:xfrm>
            <a:off x="7372350" y="52959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1E01959-7428-47C4-BB7B-17D6742409DD}"/>
              </a:ext>
            </a:extLst>
          </p:cNvPr>
          <p:cNvSpPr>
            <a:spLocks noGrp="1"/>
          </p:cNvSpPr>
          <p:nvPr/>
        </p:nvSpPr>
        <p:spPr>
          <a:xfrm>
            <a:off x="6819900" y="5524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Формат объединяет знания, предметный опыт и командное участие.</a:t>
            </a:r>
          </a:p>
        </p:txBody>
      </p:sp>
    </p:spTree>
    <p:extLst>
      <p:ext uri="{BB962C8B-B14F-4D97-AF65-F5344CB8AC3E}">
        <p14:creationId xmlns:p14="http://schemas.microsoft.com/office/powerpoint/2010/main" val="199479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rcRect l="1852" r="1852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33E344-A64A-4369-9141-8610755C7329}"/>
              </a:ext>
            </a:extLst>
          </p:cNvPr>
          <p:cNvSpPr>
            <a:spLocks noGrp="1"/>
          </p:cNvSpPr>
          <p:nvPr/>
        </p:nvSpPr>
        <p:spPr>
          <a:xfrm>
            <a:off x="4000500" y="0"/>
            <a:ext cx="1428750" cy="6858000"/>
          </a:xfrm>
          <a:prstGeom prst="rect">
            <a:avLst/>
          </a:prstGeom>
          <a:solidFill>
            <a:srgbClr val="030303">
              <a:alpha val="72157"/>
            </a:srgbClr>
          </a:solidFill>
          <a:ln w="0">
            <a:solidFill>
              <a:srgbClr val="030303">
                <a:alpha val="72157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D2BF75-9ED7-465E-B479-B6CD32AB0B2D}"/>
              </a:ext>
            </a:extLst>
          </p:cNvPr>
          <p:cNvSpPr>
            <a:spLocks noGrp="1"/>
          </p:cNvSpPr>
          <p:nvPr/>
        </p:nvSpPr>
        <p:spPr>
          <a:xfrm>
            <a:off x="5429250" y="4953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27 ИЮНЯ · ДЕНЬ МОЛОДЁЖИ В ХАБАРОВСКЕ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EF55FB-CA76-4A0B-9BB1-DC0DD1E18A91}"/>
              </a:ext>
            </a:extLst>
          </p:cNvPr>
          <p:cNvSpPr>
            <a:spLocks noGrp="1"/>
          </p:cNvSpPr>
          <p:nvPr/>
        </p:nvSpPr>
        <p:spPr>
          <a:xfrm>
            <a:off x="5429250" y="838200"/>
            <a:ext cx="590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 вышел</a:t>
            </a:r>
          </a:p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в открытое городское</a:t>
            </a:r>
          </a:p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пространство.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415AE7-6821-4806-839C-54B082375803}"/>
              </a:ext>
            </a:extLst>
          </p:cNvPr>
          <p:cNvSpPr>
            <a:spLocks noGrp="1"/>
          </p:cNvSpPr>
          <p:nvPr/>
        </p:nvSpPr>
        <p:spPr>
          <a:xfrm>
            <a:off x="5429250" y="2381250"/>
            <a:ext cx="571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Лекция, выставка, мастер-классы и живое общение работали как единая площадка знакомства с культурами региона.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rcRect t="11124" b="11124"/>
          <a:stretch>
            <a:fillRect/>
          </a:stretch>
        </p:blipFill>
        <p:spPr>
          <a:xfrm>
            <a:off x="54292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rcRect t="9312" b="9312"/>
          <a:stretch>
            <a:fillRect/>
          </a:stretch>
        </p:blipFill>
        <p:spPr>
          <a:xfrm>
            <a:off x="73723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rcRect t="7710" b="7710"/>
          <a:stretch>
            <a:fillRect/>
          </a:stretch>
        </p:blipFill>
        <p:spPr>
          <a:xfrm>
            <a:off x="93154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7EBA59-D523-4551-9C8D-AA5C75C34AC7}"/>
              </a:ext>
            </a:extLst>
          </p:cNvPr>
          <p:cNvSpPr>
            <a:spLocks noGrp="1"/>
          </p:cNvSpPr>
          <p:nvPr/>
        </p:nvSpPr>
        <p:spPr>
          <a:xfrm>
            <a:off x="54292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лекция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6D7F7E-B5C3-4C2B-B701-087E80AE6C8F}"/>
              </a:ext>
            </a:extLst>
          </p:cNvPr>
          <p:cNvSpPr>
            <a:spLocks noGrp="1"/>
          </p:cNvSpPr>
          <p:nvPr/>
        </p:nvSpPr>
        <p:spPr>
          <a:xfrm>
            <a:off x="73723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участие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D7367B-4B72-4B3F-BE2E-DC1509DB8E1C}"/>
              </a:ext>
            </a:extLst>
          </p:cNvPr>
          <p:cNvSpPr>
            <a:spLocks noGrp="1"/>
          </p:cNvSpPr>
          <p:nvPr/>
        </p:nvSpPr>
        <p:spPr>
          <a:xfrm>
            <a:off x="93154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мастер-класс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11A915B-C67E-4D15-A547-AFD012F4D57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278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C1908E-611E-408A-8E82-A4511CAAD991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F11222"/>
                </a:solidFill>
                <a:latin typeface="Aptos"/>
                <a:ea typeface="Aptos"/>
                <a:cs typeface="Aptos"/>
              </a:rPr>
              <a:t>ЦИФРОВАЯ ПЛАТФОРМА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E895EC-A67A-43DC-957E-2806270CCEBB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После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события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интерес</a:t>
            </a:r>
            <a:endParaRPr sz="3900" b="0" dirty="0">
              <a:solidFill>
                <a:srgbClr val="F7F3EC"/>
              </a:solidFill>
              <a:latin typeface="Leporid"/>
              <a:ea typeface="Leporid"/>
              <a:cs typeface="Leporid"/>
            </a:endParaRP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не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обрывается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FFDED37-3662-4349-879F-FC57E34FA67F}"/>
              </a:ext>
            </a:extLst>
          </p:cNvPr>
          <p:cNvSpPr>
            <a:spLocks noGrp="1"/>
          </p:cNvSpPr>
          <p:nvPr/>
        </p:nvSpPr>
        <p:spPr>
          <a:xfrm>
            <a:off x="2895600" y="2057400"/>
            <a:ext cx="4248150" cy="3905250"/>
          </a:xfrm>
          <a:prstGeom prst="roundRect">
            <a:avLst>
              <a:gd name="adj" fmla="val 3902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13EE5F-CD24-46F7-81AA-4A3A04053EF2}"/>
              </a:ext>
            </a:extLst>
          </p:cNvPr>
          <p:cNvSpPr>
            <a:spLocks noGrp="1"/>
          </p:cNvSpPr>
          <p:nvPr/>
        </p:nvSpPr>
        <p:spPr>
          <a:xfrm>
            <a:off x="3200400" y="2305050"/>
            <a:ext cx="1238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40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5400" b="0" dirty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20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F59AD7-968E-44F9-A522-D14BE614F79D}"/>
              </a:ext>
            </a:extLst>
          </p:cNvPr>
          <p:cNvSpPr>
            <a:spLocks noGrp="1"/>
          </p:cNvSpPr>
          <p:nvPr/>
        </p:nvSpPr>
        <p:spPr>
          <a:xfrm>
            <a:off x="4476750" y="2428875"/>
            <a:ext cx="209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народов</a:t>
            </a:r>
          </a:p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в онлайн-атласе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435A62-9EEA-4832-9A15-0753A899D2C7}"/>
              </a:ext>
            </a:extLst>
          </p:cNvPr>
          <p:cNvSpPr>
            <a:spLocks noGrp="1"/>
          </p:cNvSpPr>
          <p:nvPr/>
        </p:nvSpPr>
        <p:spPr>
          <a:xfrm>
            <a:off x="3200400" y="3257550"/>
            <a:ext cx="3638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8486CCC-2E5A-47C3-9151-1D54C9B7FEF5}"/>
              </a:ext>
            </a:extLst>
          </p:cNvPr>
          <p:cNvSpPr>
            <a:spLocks noGrp="1"/>
          </p:cNvSpPr>
          <p:nvPr/>
        </p:nvSpPr>
        <p:spPr>
          <a:xfrm>
            <a:off x="3200400" y="3543300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73AA01E-AA70-4706-A69C-F3F4DE8C46D3}"/>
              </a:ext>
            </a:extLst>
          </p:cNvPr>
          <p:cNvSpPr>
            <a:spLocks noGrp="1"/>
          </p:cNvSpPr>
          <p:nvPr/>
        </p:nvSpPr>
        <p:spPr>
          <a:xfrm>
            <a:off x="3429000" y="34671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отдельные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страницы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о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каждом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народе</a:t>
            </a:r>
            <a:endParaRPr sz="1350" dirty="0">
              <a:solidFill>
                <a:srgbClr val="F7F3EC"/>
              </a:solidFill>
              <a:latin typeface="+mj-lt"/>
              <a:ea typeface="Microsoft JhengHei Light" panose="020B0304030504040204" pitchFamily="34" charset="-120"/>
              <a:cs typeface="Apto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7EF672B-EF2A-4534-884A-0B1AD004B55E}"/>
              </a:ext>
            </a:extLst>
          </p:cNvPr>
          <p:cNvSpPr>
            <a:spLocks noGrp="1"/>
          </p:cNvSpPr>
          <p:nvPr/>
        </p:nvSpPr>
        <p:spPr>
          <a:xfrm>
            <a:off x="3200400" y="4048125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628C7D-E577-435E-8047-F690022567F2}"/>
              </a:ext>
            </a:extLst>
          </p:cNvPr>
          <p:cNvSpPr>
            <a:spLocks noGrp="1"/>
          </p:cNvSpPr>
          <p:nvPr/>
        </p:nvSpPr>
        <p:spPr>
          <a:xfrm>
            <a:off x="3429000" y="39719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территории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,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языки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и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культурные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традиции</a:t>
            </a:r>
            <a:endParaRPr sz="1350" dirty="0">
              <a:solidFill>
                <a:srgbClr val="F7F3EC"/>
              </a:solidFill>
              <a:latin typeface="+mj-lt"/>
              <a:ea typeface="Microsoft JhengHei Light" panose="020B0304030504040204" pitchFamily="34" charset="-120"/>
              <a:cs typeface="Aptos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F467777-4728-4CC5-92F0-AD2FFA8C0EBC}"/>
              </a:ext>
            </a:extLst>
          </p:cNvPr>
          <p:cNvSpPr>
            <a:spLocks noGrp="1"/>
          </p:cNvSpPr>
          <p:nvPr/>
        </p:nvSpPr>
        <p:spPr>
          <a:xfrm>
            <a:off x="3200400" y="4552950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D93587-61AE-4A87-BD4B-8D7FDBBD631D}"/>
              </a:ext>
            </a:extLst>
          </p:cNvPr>
          <p:cNvSpPr>
            <a:spLocks noGrp="1"/>
          </p:cNvSpPr>
          <p:nvPr/>
        </p:nvSpPr>
        <p:spPr>
          <a:xfrm>
            <a:off x="3429000" y="44767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образовательные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карточки</a:t>
            </a:r>
            <a:r>
              <a:rPr sz="1350" dirty="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и </a:t>
            </a:r>
            <a:r>
              <a:rPr sz="1350" dirty="0" err="1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мини-тесты</a:t>
            </a:r>
            <a:endParaRPr sz="1350" dirty="0">
              <a:solidFill>
                <a:srgbClr val="F7F3EC"/>
              </a:solidFill>
              <a:latin typeface="+mj-lt"/>
              <a:ea typeface="Microsoft JhengHei Light" panose="020B0304030504040204" pitchFamily="34" charset="-120"/>
              <a:cs typeface="Aptos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9B531C6-AD46-4A6C-AFB1-7DF5FAA74932}"/>
              </a:ext>
            </a:extLst>
          </p:cNvPr>
          <p:cNvSpPr>
            <a:spLocks noGrp="1"/>
          </p:cNvSpPr>
          <p:nvPr/>
        </p:nvSpPr>
        <p:spPr>
          <a:xfrm>
            <a:off x="3200400" y="5057775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07D19FC-A63B-4DA9-8CC9-1E304C813CAE}"/>
              </a:ext>
            </a:extLst>
          </p:cNvPr>
          <p:cNvSpPr>
            <a:spLocks noGrp="1"/>
          </p:cNvSpPr>
          <p:nvPr/>
        </p:nvSpPr>
        <p:spPr>
          <a:xfrm>
            <a:off x="3429000" y="498157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статьи для углублённого изучения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4E8BE40-4BF9-403C-B492-F2FCE8795B1E}"/>
              </a:ext>
            </a:extLst>
          </p:cNvPr>
          <p:cNvSpPr>
            <a:spLocks noGrp="1"/>
          </p:cNvSpPr>
          <p:nvPr/>
        </p:nvSpPr>
        <p:spPr>
          <a:xfrm>
            <a:off x="7448550" y="2057400"/>
            <a:ext cx="4095750" cy="3905250"/>
          </a:xfrm>
          <a:prstGeom prst="roundRect">
            <a:avLst>
              <a:gd name="adj" fmla="val 3902"/>
            </a:avLst>
          </a:prstGeom>
          <a:solidFill>
            <a:srgbClr val="030303"/>
          </a:solidFill>
          <a:ln w="9525">
            <a:solidFill>
              <a:srgbClr val="343438"/>
            </a:solidFill>
            <a:prstDash val="solid"/>
          </a:ln>
        </p:spPr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rcRect t="9" b="9"/>
          <a:stretch>
            <a:fillRect/>
          </a:stretch>
        </p:blipFill>
        <p:spPr>
          <a:xfrm>
            <a:off x="7677150" y="2266950"/>
            <a:ext cx="3638550" cy="2286000"/>
          </a:xfrm>
          <a:prstGeom prst="roundRect">
            <a:avLst>
              <a:gd name="adj" fmla="val 5000"/>
            </a:avLst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B41AF15-F3A3-43DA-8E25-5DF58A7EDC51}"/>
              </a:ext>
            </a:extLst>
          </p:cNvPr>
          <p:cNvSpPr>
            <a:spLocks noGrp="1"/>
          </p:cNvSpPr>
          <p:nvPr/>
        </p:nvSpPr>
        <p:spPr>
          <a:xfrm>
            <a:off x="7677150" y="48006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F7F3EC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15 вопросов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A9E4FBF-1BA4-444B-9DB8-EFA979A67DAE}"/>
              </a:ext>
            </a:extLst>
          </p:cNvPr>
          <p:cNvSpPr>
            <a:spLocks noGrp="1"/>
          </p:cNvSpPr>
          <p:nvPr/>
        </p:nvSpPr>
        <p:spPr>
          <a:xfrm>
            <a:off x="7677150" y="519112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Большой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квиз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с </a:t>
            </a: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сохранением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результата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в </a:t>
            </a: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личном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 </a:t>
            </a:r>
            <a:r>
              <a:rPr sz="1350" dirty="0" err="1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кабинете</a:t>
            </a:r>
            <a:r>
              <a:rPr sz="1350" dirty="0">
                <a:solidFill>
                  <a:srgbClr val="AAA7A2"/>
                </a:solidFill>
                <a:latin typeface="+mj-lt"/>
                <a:ea typeface="Microsoft JhengHei Light" panose="020B0304030504040204" pitchFamily="34" charset="-120"/>
                <a:cs typeface="Aptos"/>
              </a:rPr>
              <a:t>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EF06FBD-E509-487B-9767-E75C087CAE6B}"/>
              </a:ext>
            </a:extLst>
          </p:cNvPr>
          <p:cNvSpPr>
            <a:spLocks noGrp="1"/>
          </p:cNvSpPr>
          <p:nvPr/>
        </p:nvSpPr>
        <p:spPr>
          <a:xfrm>
            <a:off x="723900" y="2082165"/>
            <a:ext cx="1866900" cy="3880485"/>
          </a:xfrm>
          <a:prstGeom prst="roundRect">
            <a:avLst>
              <a:gd name="adj" fmla="val 8163"/>
            </a:avLst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" y="3829050"/>
            <a:ext cx="1447800" cy="1447800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9D9410-D3E3-46D8-9714-5D72818BA50D}"/>
              </a:ext>
            </a:extLst>
          </p:cNvPr>
          <p:cNvSpPr>
            <a:spLocks noGrp="1"/>
          </p:cNvSpPr>
          <p:nvPr/>
        </p:nvSpPr>
        <p:spPr>
          <a:xfrm>
            <a:off x="666750" y="5459095"/>
            <a:ext cx="1981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30303"/>
                </a:solidFill>
                <a:latin typeface="Aptos"/>
                <a:ea typeface="Aptos"/>
                <a:cs typeface="Aptos"/>
              </a:defRPr>
            </a:pPr>
            <a:r>
              <a:rPr sz="1100" dirty="0">
                <a:solidFill>
                  <a:srgbClr val="030303"/>
                </a:solidFill>
                <a:latin typeface="Arial Black" panose="020B0A04020102020204" pitchFamily="34" charset="0"/>
                <a:ea typeface="Aptos"/>
                <a:cs typeface="Aptos"/>
              </a:rPr>
              <a:t>мозаикакультур.рф</a:t>
            </a:r>
          </a:p>
        </p:txBody>
      </p:sp>
    </p:spTree>
    <p:extLst>
      <p:ext uri="{BB962C8B-B14F-4D97-AF65-F5344CB8AC3E}">
        <p14:creationId xmlns:p14="http://schemas.microsoft.com/office/powerpoint/2010/main" val="26376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C140316-F879-48E3-94E4-FB553CE1EF4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ПОЧЕМУ ЭТА МОДЕЛЬ РАБОТАЕТ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D7FE22-F099-4AE9-9294-99F5E0C7D3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 готов к масштабу,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потому что не зависит от одного события.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9493C1-F420-4F32-BD6E-D6C36CCC78F0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0CD022-9ED4-4659-9C40-5EE28FC69F6C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B1471E-54E5-4BF5-AFC8-55BDD30129CB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DC5991-CAAE-49D1-AC63-C05952B3F6F2}"/>
              </a:ext>
            </a:extLst>
          </p:cNvPr>
          <p:cNvSpPr>
            <a:spLocks noGrp="1"/>
          </p:cNvSpPr>
          <p:nvPr/>
        </p:nvSpPr>
        <p:spPr>
          <a:xfrm>
            <a:off x="1390650" y="21431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ЖИВОЕ + ЦИФРОВОЕ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7BE9F0-E54B-42F3-8ED5-B25D945F423D}"/>
              </a:ext>
            </a:extLst>
          </p:cNvPr>
          <p:cNvSpPr>
            <a:spLocks noGrp="1"/>
          </p:cNvSpPr>
          <p:nvPr/>
        </p:nvSpPr>
        <p:spPr>
          <a:xfrm>
            <a:off x="4514850" y="21240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Мероприятие создаёт интерес, сайт помогает продолжить изучение.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F53053-5170-4846-A331-CBFB4906E24E}"/>
              </a:ext>
            </a:extLst>
          </p:cNvPr>
          <p:cNvSpPr>
            <a:spLocks noGrp="1"/>
          </p:cNvSpPr>
          <p:nvPr/>
        </p:nvSpPr>
        <p:spPr>
          <a:xfrm>
            <a:off x="1390650" y="27336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BF2950-0D6D-40AC-AD3B-1AFA0C329E20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DC28A84-DA63-46B7-AFCF-9BC69C0DE840}"/>
              </a:ext>
            </a:extLst>
          </p:cNvPr>
          <p:cNvSpPr>
            <a:spLocks noGrp="1"/>
          </p:cNvSpPr>
          <p:nvPr/>
        </p:nvSpPr>
        <p:spPr>
          <a:xfrm>
            <a:off x="1390650" y="30194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СОВРЕМЕННЫЙ ЯЗЫК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0ABAC0-37B4-4923-B456-FBFB0A637CFF}"/>
              </a:ext>
            </a:extLst>
          </p:cNvPr>
          <p:cNvSpPr>
            <a:spLocks noGrp="1"/>
          </p:cNvSpPr>
          <p:nvPr/>
        </p:nvSpPr>
        <p:spPr>
          <a:xfrm>
            <a:off x="4514850" y="30003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Визуальная подача и интерактивные форматы понятны молодой аудитории.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0DB2A0-8FA2-49B4-B500-247D7B1AD253}"/>
              </a:ext>
            </a:extLst>
          </p:cNvPr>
          <p:cNvSpPr>
            <a:spLocks noGrp="1"/>
          </p:cNvSpPr>
          <p:nvPr/>
        </p:nvSpPr>
        <p:spPr>
          <a:xfrm>
            <a:off x="1390650" y="36099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0A5B5B2-CFAF-4886-8B20-E6CC08741044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B4A5D5-E5DA-4F88-B183-D379B9FE5945}"/>
              </a:ext>
            </a:extLst>
          </p:cNvPr>
          <p:cNvSpPr>
            <a:spLocks noGrp="1"/>
          </p:cNvSpPr>
          <p:nvPr/>
        </p:nvSpPr>
        <p:spPr>
          <a:xfrm>
            <a:off x="1390650" y="38957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ЕДИНАЯ СИСТЕМА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7DB951C-5C9F-4DE0-9A5B-00E7C7BE2D98}"/>
              </a:ext>
            </a:extLst>
          </p:cNvPr>
          <p:cNvSpPr>
            <a:spLocks noGrp="1"/>
          </p:cNvSpPr>
          <p:nvPr/>
        </p:nvSpPr>
        <p:spPr>
          <a:xfrm>
            <a:off x="4514850" y="38766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Культура, образование и технологии собраны в одном маршруте.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E93A27-974C-4195-84C4-C2832C19D2D8}"/>
              </a:ext>
            </a:extLst>
          </p:cNvPr>
          <p:cNvSpPr>
            <a:spLocks noGrp="1"/>
          </p:cNvSpPr>
          <p:nvPr/>
        </p:nvSpPr>
        <p:spPr>
          <a:xfrm>
            <a:off x="1390650" y="44862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1609802-CC41-46C1-9734-5C0F1A60931B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1187C8D-2D3B-4C8F-BA7B-119646DFDD3F}"/>
              </a:ext>
            </a:extLst>
          </p:cNvPr>
          <p:cNvSpPr>
            <a:spLocks noGrp="1"/>
          </p:cNvSpPr>
          <p:nvPr/>
        </p:nvSpPr>
        <p:spPr>
          <a:xfrm>
            <a:off x="1390650" y="47720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ТИРАЖИРУЕМЫЙ ФОРМАТ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4156567-50E2-4490-BE6C-81557F8D632F}"/>
              </a:ext>
            </a:extLst>
          </p:cNvPr>
          <p:cNvSpPr>
            <a:spLocks noGrp="1"/>
          </p:cNvSpPr>
          <p:nvPr/>
        </p:nvSpPr>
        <p:spPr>
          <a:xfrm>
            <a:off x="4514850" y="47529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Лекции, выставки и мастер-классы можно проводить на новых площадках.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127192-A3C0-4927-80C6-E0F19D008F49}"/>
              </a:ext>
            </a:extLst>
          </p:cNvPr>
          <p:cNvSpPr>
            <a:spLocks noGrp="1"/>
          </p:cNvSpPr>
          <p:nvPr/>
        </p:nvSpPr>
        <p:spPr>
          <a:xfrm>
            <a:off x="1390650" y="53625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91A907-1D41-4EFB-8709-4F94243B8458}"/>
              </a:ext>
            </a:extLst>
          </p:cNvPr>
          <p:cNvSpPr>
            <a:spLocks noGrp="1"/>
          </p:cNvSpPr>
          <p:nvPr/>
        </p:nvSpPr>
        <p:spPr>
          <a:xfrm>
            <a:off x="10934700" y="2143125"/>
            <a:ext cx="571500" cy="321945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1C602E2-03C4-4E9F-B179-8F90008D97A3}"/>
              </a:ext>
            </a:extLst>
          </p:cNvPr>
          <p:cNvSpPr>
            <a:spLocks noGrp="1"/>
          </p:cNvSpPr>
          <p:nvPr/>
        </p:nvSpPr>
        <p:spPr>
          <a:xfrm>
            <a:off x="11001375" y="3219450"/>
            <a:ext cx="438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2222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2DF671E-AFF8-4E03-A0F1-879B980E6EB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СЛЕДУЮЩИЙ ШАГ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10FA7B-F53D-4227-895F-1D91045EA7D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096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75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Поддержка</a:t>
            </a:r>
            <a:r>
              <a:rPr sz="375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поможет</a:t>
            </a:r>
            <a:r>
              <a:rPr sz="375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сделать</a:t>
            </a:r>
            <a:endParaRPr sz="3750" b="0" dirty="0">
              <a:solidFill>
                <a:srgbClr val="F7F3EC"/>
              </a:solidFill>
              <a:latin typeface="Leporid"/>
              <a:ea typeface="Leporid"/>
              <a:cs typeface="Leporid"/>
            </a:endParaRPr>
          </a:p>
          <a:p>
            <a:pPr algn="l">
              <a:defRPr sz="375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</a:t>
            </a:r>
            <a:r>
              <a:rPr sz="375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региональной</a:t>
            </a:r>
            <a:r>
              <a:rPr sz="375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75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программой</a:t>
            </a:r>
            <a:r>
              <a:rPr sz="375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D3A6CB-B582-48EF-BE94-0C2CC51B924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Нам нужна поддержка правительства края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7EEF8E-5412-4F6A-BECA-8CA95F6A370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23802B-2892-4A23-A0A8-C26C3D87243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ОРГАНИЗАЦИОННАЯ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14441B-A4D1-4C3C-A2C8-3B36A7CC0E93}"/>
              </a:ext>
            </a:extLst>
          </p:cNvPr>
          <p:cNvSpPr>
            <a:spLocks noGrp="1"/>
          </p:cNvSpPr>
          <p:nvPr/>
        </p:nvSpPr>
        <p:spPr>
          <a:xfrm>
            <a:off x="3371850" y="28384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площадки и включение в молодёжные и образовательные события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9B77A7-387B-4245-92E4-839543E01879}"/>
              </a:ext>
            </a:extLst>
          </p:cNvPr>
          <p:cNvSpPr>
            <a:spLocks noGrp="1"/>
          </p:cNvSpPr>
          <p:nvPr/>
        </p:nvSpPr>
        <p:spPr>
          <a:xfrm>
            <a:off x="1257300" y="340042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23692F-787D-4232-A2FB-3BD84968EAE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B1B2B6-94FD-4D85-B619-98492E89994F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ЭКСПЕРТНАЯ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0312F8-9150-4987-9EA2-031686540505}"/>
              </a:ext>
            </a:extLst>
          </p:cNvPr>
          <p:cNvSpPr>
            <a:spLocks noGrp="1"/>
          </p:cNvSpPr>
          <p:nvPr/>
        </p:nvSpPr>
        <p:spPr>
          <a:xfrm>
            <a:off x="3371850" y="36195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контакт с профильными учреждениями и представителями народов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F66AF0-05FA-466E-8B9D-9FB2305BB338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BEA99A-8C2F-4167-A759-DCB9D9A85548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947B03-BB4A-4B57-9A52-248E10D83949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ИНФОРМАЦИОННАЯ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D49CE1-88E5-4ADF-A7C6-2907E296699D}"/>
              </a:ext>
            </a:extLst>
          </p:cNvPr>
          <p:cNvSpPr>
            <a:spLocks noGrp="1"/>
          </p:cNvSpPr>
          <p:nvPr/>
        </p:nvSpPr>
        <p:spPr>
          <a:xfrm>
            <a:off x="3371850" y="4400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доступ к региональной аудитории и партнёрским каналам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24C8E72-3763-4F78-9772-8F0D231A4B72}"/>
              </a:ext>
            </a:extLst>
          </p:cNvPr>
          <p:cNvSpPr>
            <a:spLocks noGrp="1"/>
          </p:cNvSpPr>
          <p:nvPr/>
        </p:nvSpPr>
        <p:spPr>
          <a:xfrm>
            <a:off x="1257300" y="496252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8EAEC21-12A6-4590-AED6-AF4F18159A4C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647950" cy="3314700"/>
          </a:xfrm>
          <a:prstGeom prst="roundRect">
            <a:avLst>
              <a:gd name="adj" fmla="val 5755"/>
            </a:avLst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3A9E63-BFDC-4761-A77C-7C44467C09F7}"/>
              </a:ext>
            </a:extLst>
          </p:cNvPr>
          <p:cNvSpPr>
            <a:spLocks noGrp="1"/>
          </p:cNvSpPr>
          <p:nvPr/>
        </p:nvSpPr>
        <p:spPr>
          <a:xfrm>
            <a:off x="9163050" y="2343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Что это даст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DEC14E8-A095-4CBA-9D4F-06BC12E8653A}"/>
              </a:ext>
            </a:extLst>
          </p:cNvPr>
          <p:cNvSpPr>
            <a:spLocks noGrp="1"/>
          </p:cNvSpPr>
          <p:nvPr/>
        </p:nvSpPr>
        <p:spPr>
          <a:xfrm>
            <a:off x="9163050" y="2876550"/>
            <a:ext cx="2000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точных материалов.</a:t>
            </a:r>
          </a:p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живых встреч.</a:t>
            </a:r>
          </a:p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молодых людей в проекте.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E3AB09-3384-4C63-8F43-B30B55D1A28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«Мозаика культур» показывает Дальний Восток как пространство множества живых культур, языков и историй.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E3D5F79-491C-4802-B47B-1F94369A93F5}"/>
              </a:ext>
            </a:extLst>
          </p:cNvPr>
          <p:cNvSpPr>
            <a:spLocks noGrp="1"/>
          </p:cNvSpPr>
          <p:nvPr/>
        </p:nvSpPr>
        <p:spPr>
          <a:xfrm>
            <a:off x="9544050" y="59055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мозаикакультур.рф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7775E6-16A0-41B0-B965-BEEAE8BBD16C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EFB275D-06F9-4696-B38E-6E247624157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06856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422</Words>
  <Application>Microsoft Office PowerPoint</Application>
  <DocSecurity>0</DocSecurity>
  <PresentationFormat>Широкоэкранный</PresentationFormat>
  <Paragraphs>103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 Black</vt:lpstr>
      <vt:lpstr>Calibri</vt:lpstr>
      <vt:lpstr>Leporid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Дмитрий Константинов</cp:lastModifiedBy>
  <cp:revision>2</cp:revision>
  <dcterms:created xsi:type="dcterms:W3CDTF">2026-07-12T18:13:20Z</dcterms:created>
  <dcterms:modified xsi:type="dcterms:W3CDTF">2026-09-05T05:33:05Z</dcterms:modified>
</cp:coreProperties>
</file>