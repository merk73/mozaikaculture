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30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/>
          <p:cNvPicPr>
            <a:picLocks noChangeAspect="1"/>
          </p:cNvPicPr>
          <p:nvPr/>
        </p:nvPicPr>
        <p:blipFill>
          <a:blip r:embed="rId3"/>
          <a:srcRect t="1786" b="1786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B38C6D6-1BCC-40E6-A617-6E45DDD9A3E9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2095500" cy="6858000"/>
          </a:xfrm>
          <a:prstGeom prst="rect">
            <a:avLst/>
          </a:prstGeom>
          <a:solidFill>
            <a:srgbClr val="030303">
              <a:alpha val="80000"/>
            </a:srgbClr>
          </a:solidFill>
          <a:ln w="0">
            <a:solidFill>
              <a:srgbClr val="030303">
                <a:alpha val="80000"/>
              </a:srgbClr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DB30C1E-A5E3-4EBB-BB91-AC2774D9C03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239000" cy="6858000"/>
          </a:xfrm>
          <a:prstGeom prst="rect">
            <a:avLst/>
          </a:prstGeom>
          <a:solidFill>
            <a:srgbClr val="030303"/>
          </a:solidFill>
          <a:ln w="0">
            <a:solidFill>
              <a:srgbClr val="030303"/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586EA9D-E676-48A0-B625-FE1D074511B2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552450" cy="57150"/>
          </a:xfrm>
          <a:prstGeom prst="rect">
            <a:avLst/>
          </a:prstGeom>
          <a:solidFill>
            <a:srgbClr val="F11222"/>
          </a:solidFill>
          <a:ln w="0">
            <a:solidFill>
              <a:srgbClr val="F11222"/>
            </a:solidFill>
            <a:prstDash val="solid"/>
          </a:ln>
        </p:spPr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685800" y="1104900"/>
            <a:ext cx="2305050" cy="838200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01FCFA5-E317-474F-9D7D-4DB2267BF3F8}"/>
              </a:ext>
            </a:extLst>
          </p:cNvPr>
          <p:cNvSpPr>
            <a:spLocks noGrp="1"/>
          </p:cNvSpPr>
          <p:nvPr/>
        </p:nvSpPr>
        <p:spPr>
          <a:xfrm>
            <a:off x="685800" y="2343150"/>
            <a:ext cx="5619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7F3EC"/>
                </a:solidFill>
                <a:latin typeface="Aptos"/>
                <a:ea typeface="Aptos"/>
                <a:cs typeface="Aptos"/>
              </a:rPr>
              <a:t>Молодёжный просветительский проект</a:t>
            </a:r>
          </a:p>
          <a:p>
            <a:pPr algn="l">
              <a:defRPr sz="2175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7F3EC"/>
                </a:solidFill>
                <a:latin typeface="Aptos"/>
                <a:ea typeface="Aptos"/>
                <a:cs typeface="Aptos"/>
              </a:rPr>
              <a:t>о коренных народах Дальнего Востока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0CDA20F-1E72-4789-AFAA-FED8B648E055}"/>
              </a:ext>
            </a:extLst>
          </p:cNvPr>
          <p:cNvSpPr>
            <a:spLocks noGrp="1"/>
          </p:cNvSpPr>
          <p:nvPr/>
        </p:nvSpPr>
        <p:spPr>
          <a:xfrm>
            <a:off x="685800" y="3524250"/>
            <a:ext cx="5238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AAA7A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AA7A2"/>
                </a:solidFill>
                <a:latin typeface="Aptos"/>
                <a:ea typeface="Aptos"/>
                <a:cs typeface="Aptos"/>
              </a:rPr>
              <a:t>Живые события + цифровая образовательная платформа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659ED3FC-C08C-4C38-99C4-42514DB2E80E}"/>
              </a:ext>
            </a:extLst>
          </p:cNvPr>
          <p:cNvSpPr>
            <a:spLocks noGrp="1"/>
          </p:cNvSpPr>
          <p:nvPr/>
        </p:nvSpPr>
        <p:spPr>
          <a:xfrm>
            <a:off x="685800" y="4533900"/>
            <a:ext cx="2324100" cy="342900"/>
          </a:xfrm>
          <a:prstGeom prst="roundRect">
            <a:avLst>
              <a:gd name="adj" fmla="val 33333"/>
            </a:avLst>
          </a:prstGeom>
          <a:solidFill>
            <a:srgbClr val="202024"/>
          </a:solidFill>
          <a:ln w="9525">
            <a:solidFill>
              <a:srgbClr val="343438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0D04DB6-5370-4D8E-BB5F-D1A07706E258}"/>
              </a:ext>
            </a:extLst>
          </p:cNvPr>
          <p:cNvSpPr>
            <a:spLocks noGrp="1"/>
          </p:cNvSpPr>
          <p:nvPr/>
        </p:nvSpPr>
        <p:spPr>
          <a:xfrm>
            <a:off x="819150" y="4610100"/>
            <a:ext cx="2057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3EC"/>
                </a:solidFill>
                <a:latin typeface="Aptos"/>
                <a:ea typeface="Aptos"/>
                <a:cs typeface="Aptos"/>
              </a:rPr>
              <a:t>ПРОЕКТ ДЛЯ ПАРТНЁРСТВА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88EF7D1-836D-42F3-BA8A-A2A750B25A1A}"/>
              </a:ext>
            </a:extLst>
          </p:cNvPr>
          <p:cNvSpPr>
            <a:spLocks noGrp="1"/>
          </p:cNvSpPr>
          <p:nvPr/>
        </p:nvSpPr>
        <p:spPr>
          <a:xfrm>
            <a:off x="685800" y="5676900"/>
            <a:ext cx="4476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AAA7A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AA7A2"/>
                </a:solidFill>
                <a:latin typeface="Aptos"/>
                <a:ea typeface="Aptos"/>
                <a:cs typeface="Aptos"/>
              </a:rPr>
              <a:t>Команда проекта «Мозаика культур»</a:t>
            </a:r>
          </a:p>
          <a:p>
            <a:pPr algn="l">
              <a:defRPr sz="1275" b="0">
                <a:solidFill>
                  <a:srgbClr val="AAA7A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AA7A2"/>
                </a:solidFill>
                <a:latin typeface="Aptos"/>
                <a:ea typeface="Aptos"/>
                <a:cs typeface="Aptos"/>
              </a:rPr>
              <a:t>Хабаровск · 2026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8A2438B-C698-4BEA-8689-C7577E1A2993}"/>
              </a:ext>
            </a:extLst>
          </p:cNvPr>
          <p:cNvSpPr>
            <a:spLocks noGrp="1"/>
          </p:cNvSpPr>
          <p:nvPr/>
        </p:nvSpPr>
        <p:spPr>
          <a:xfrm>
            <a:off x="11353800" y="64198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7F3E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81277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8E4D3B6D-2D6D-40C3-8176-BCB3067C33FF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1122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11222"/>
                </a:solidFill>
                <a:latin typeface="Aptos"/>
                <a:ea typeface="Aptos"/>
                <a:cs typeface="Aptos"/>
              </a:rPr>
              <a:t>ПОЧЕМУ ПОЯВИЛСЯ ПРОЕКТ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BEB7BCD-F711-4827-932C-6417D4986429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3900" b="0">
                <a:solidFill>
                  <a:srgbClr val="F7F3EC"/>
                </a:solidFill>
                <a:latin typeface="Leporid"/>
                <a:ea typeface="Leporid"/>
                <a:cs typeface="Leporid"/>
              </a:defRPr>
            </a:pPr>
            <a:r>
              <a:rPr sz="3900" b="0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Культурное наследие есть.</a:t>
            </a:r>
          </a:p>
          <a:p>
            <a:pPr algn="l">
              <a:defRPr sz="3900" b="0">
                <a:solidFill>
                  <a:srgbClr val="F7F3EC"/>
                </a:solidFill>
                <a:latin typeface="Leporid"/>
                <a:ea typeface="Leporid"/>
                <a:cs typeface="Leporid"/>
              </a:defRPr>
            </a:pPr>
            <a:r>
              <a:rPr sz="3900" b="0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Современного входа в него мало.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89080D5-D764-49DC-9531-E5E8B35B1C6A}"/>
              </a:ext>
            </a:extLst>
          </p:cNvPr>
          <p:cNvSpPr>
            <a:spLocks noGrp="1"/>
          </p:cNvSpPr>
          <p:nvPr/>
        </p:nvSpPr>
        <p:spPr>
          <a:xfrm>
            <a:off x="11353800" y="64198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AAA7A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AA7A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2801BF5-920B-453C-9C94-7FD2F5ADBD7A}"/>
              </a:ext>
            </a:extLst>
          </p:cNvPr>
          <p:cNvSpPr>
            <a:spLocks noGrp="1"/>
          </p:cNvSpPr>
          <p:nvPr/>
        </p:nvSpPr>
        <p:spPr>
          <a:xfrm>
            <a:off x="685800" y="6505575"/>
            <a:ext cx="10287000" cy="9525"/>
          </a:xfrm>
          <a:prstGeom prst="rect">
            <a:avLst/>
          </a:prstGeom>
          <a:solidFill>
            <a:srgbClr val="343438"/>
          </a:solidFill>
          <a:ln w="0">
            <a:solidFill>
              <a:srgbClr val="343438"/>
            </a:solidFill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9633FF4-22AE-4E1A-8AD4-DFA4E254AF26}"/>
              </a:ext>
            </a:extLst>
          </p:cNvPr>
          <p:cNvSpPr>
            <a:spLocks noGrp="1"/>
          </p:cNvSpPr>
          <p:nvPr/>
        </p:nvSpPr>
        <p:spPr>
          <a:xfrm>
            <a:off x="685800" y="226695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1122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11222"/>
                </a:solidFill>
                <a:latin typeface="Aptos"/>
                <a:ea typeface="Aptos"/>
                <a:cs typeface="Aptos"/>
              </a:rPr>
              <a:t>СЛОЖНО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ADE4FC0-6F4B-43C4-8D2E-57802536E87A}"/>
              </a:ext>
            </a:extLst>
          </p:cNvPr>
          <p:cNvSpPr>
            <a:spLocks noGrp="1"/>
          </p:cNvSpPr>
          <p:nvPr/>
        </p:nvSpPr>
        <p:spPr>
          <a:xfrm>
            <a:off x="2419350" y="2247900"/>
            <a:ext cx="5905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7F3EC"/>
                </a:solidFill>
                <a:latin typeface="Aptos"/>
                <a:ea typeface="Aptos"/>
                <a:cs typeface="Aptos"/>
              </a:rPr>
              <a:t>Материалы часто написаны академично и не рассчитаны на первый контакт.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8C1D112-8853-4C8B-AE96-0802ADE7CD86}"/>
              </a:ext>
            </a:extLst>
          </p:cNvPr>
          <p:cNvSpPr>
            <a:spLocks noGrp="1"/>
          </p:cNvSpPr>
          <p:nvPr/>
        </p:nvSpPr>
        <p:spPr>
          <a:xfrm>
            <a:off x="685800" y="2971800"/>
            <a:ext cx="7639050" cy="9525"/>
          </a:xfrm>
          <a:prstGeom prst="rect">
            <a:avLst/>
          </a:prstGeom>
          <a:solidFill>
            <a:srgbClr val="343438"/>
          </a:solidFill>
          <a:ln w="0">
            <a:solidFill>
              <a:srgbClr val="343438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F134CBE-E905-4445-AC85-FAC529ECA5B8}"/>
              </a:ext>
            </a:extLst>
          </p:cNvPr>
          <p:cNvSpPr>
            <a:spLocks noGrp="1"/>
          </p:cNvSpPr>
          <p:nvPr/>
        </p:nvSpPr>
        <p:spPr>
          <a:xfrm>
            <a:off x="685800" y="3267075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1122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11222"/>
                </a:solidFill>
                <a:latin typeface="Aptos"/>
                <a:ea typeface="Aptos"/>
                <a:cs typeface="Aptos"/>
              </a:rPr>
              <a:t>РАЗРОЗНЕННО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CE1D88B-2C1F-49F3-8EC8-6E5F8D92FE16}"/>
              </a:ext>
            </a:extLst>
          </p:cNvPr>
          <p:cNvSpPr>
            <a:spLocks noGrp="1"/>
          </p:cNvSpPr>
          <p:nvPr/>
        </p:nvSpPr>
        <p:spPr>
          <a:xfrm>
            <a:off x="2419350" y="3248025"/>
            <a:ext cx="5905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7F3EC"/>
                </a:solidFill>
                <a:latin typeface="Aptos"/>
                <a:ea typeface="Aptos"/>
                <a:cs typeface="Aptos"/>
              </a:rPr>
              <a:t>Информация о народах, языках и традициях находится в разных источниках.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E60BE66-3DBE-4D20-A5FC-85E7192A815B}"/>
              </a:ext>
            </a:extLst>
          </p:cNvPr>
          <p:cNvSpPr>
            <a:spLocks noGrp="1"/>
          </p:cNvSpPr>
          <p:nvPr/>
        </p:nvSpPr>
        <p:spPr>
          <a:xfrm>
            <a:off x="685800" y="3971925"/>
            <a:ext cx="7639050" cy="9525"/>
          </a:xfrm>
          <a:prstGeom prst="rect">
            <a:avLst/>
          </a:prstGeom>
          <a:solidFill>
            <a:srgbClr val="343438"/>
          </a:solidFill>
          <a:ln w="0">
            <a:solidFill>
              <a:srgbClr val="343438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596ED4B3-2A71-4303-AA60-2DA3647D7D1D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1122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11222"/>
                </a:solidFill>
                <a:latin typeface="Aptos"/>
                <a:ea typeface="Aptos"/>
                <a:cs typeface="Aptos"/>
              </a:rPr>
              <a:t>НЕ ДЛЯ МОЛОДЁЖИ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4CD8F55B-7BD2-44EA-9CDB-66F840C80FDF}"/>
              </a:ext>
            </a:extLst>
          </p:cNvPr>
          <p:cNvSpPr>
            <a:spLocks noGrp="1"/>
          </p:cNvSpPr>
          <p:nvPr/>
        </p:nvSpPr>
        <p:spPr>
          <a:xfrm>
            <a:off x="2419350" y="4248150"/>
            <a:ext cx="5905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7F3EC"/>
                </a:solidFill>
                <a:latin typeface="Aptos"/>
                <a:ea typeface="Aptos"/>
                <a:cs typeface="Aptos"/>
              </a:rPr>
              <a:t>Мало форматов, где можно увидеть, попробовать, обсудить и продолжить самому.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2C348255-A542-49A2-AD32-CC72F9758F2A}"/>
              </a:ext>
            </a:extLst>
          </p:cNvPr>
          <p:cNvSpPr>
            <a:spLocks noGrp="1"/>
          </p:cNvSpPr>
          <p:nvPr/>
        </p:nvSpPr>
        <p:spPr>
          <a:xfrm>
            <a:off x="685800" y="4972050"/>
            <a:ext cx="7639050" cy="9525"/>
          </a:xfrm>
          <a:prstGeom prst="rect">
            <a:avLst/>
          </a:prstGeom>
          <a:solidFill>
            <a:srgbClr val="343438"/>
          </a:solidFill>
          <a:ln w="0">
            <a:solidFill>
              <a:srgbClr val="343438"/>
            </a:solidFill>
            <a:prstDash val="solid"/>
          </a:ln>
        </p:spPr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50A4EA06-4F6C-4AD0-AE04-C6AD8974FDAE}"/>
              </a:ext>
            </a:extLst>
          </p:cNvPr>
          <p:cNvSpPr>
            <a:spLocks noGrp="1"/>
          </p:cNvSpPr>
          <p:nvPr/>
        </p:nvSpPr>
        <p:spPr>
          <a:xfrm>
            <a:off x="8858250" y="2038350"/>
            <a:ext cx="2647950" cy="3638550"/>
          </a:xfrm>
          <a:prstGeom prst="roundRect">
            <a:avLst>
              <a:gd name="adj" fmla="val 5755"/>
            </a:avLst>
          </a:prstGeom>
          <a:solidFill>
            <a:srgbClr val="F11222"/>
          </a:solidFill>
          <a:ln w="0">
            <a:solidFill>
              <a:srgbClr val="F11222"/>
            </a:solidFill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31BEF61B-5994-4085-8341-71A3E2693726}"/>
              </a:ext>
            </a:extLst>
          </p:cNvPr>
          <p:cNvSpPr>
            <a:spLocks noGrp="1"/>
          </p:cNvSpPr>
          <p:nvPr/>
        </p:nvSpPr>
        <p:spPr>
          <a:xfrm>
            <a:off x="9163050" y="245745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F3EC"/>
                </a:solidFill>
                <a:latin typeface="Aptos"/>
                <a:ea typeface="Aptos"/>
                <a:cs typeface="Aptos"/>
              </a:rPr>
              <a:t>Наша задача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DE45488-B966-46D3-8A09-72795075FA45}"/>
              </a:ext>
            </a:extLst>
          </p:cNvPr>
          <p:cNvSpPr>
            <a:spLocks noGrp="1"/>
          </p:cNvSpPr>
          <p:nvPr/>
        </p:nvSpPr>
        <p:spPr>
          <a:xfrm>
            <a:off x="9163050" y="2914650"/>
            <a:ext cx="2000250" cy="2209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400" b="0">
                <a:solidFill>
                  <a:srgbClr val="F7F3EC"/>
                </a:solidFill>
                <a:latin typeface="Leporid"/>
                <a:ea typeface="Leporid"/>
                <a:cs typeface="Leporid"/>
              </a:defRPr>
            </a:pPr>
            <a:r>
              <a:rPr sz="2400" b="0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Сделать культуры региона понятными, современными и живыми.</a:t>
            </a:r>
          </a:p>
        </p:txBody>
      </p:sp>
    </p:spTree>
    <p:extLst>
      <p:ext uri="{BB962C8B-B14F-4D97-AF65-F5344CB8AC3E}">
        <p14:creationId xmlns:p14="http://schemas.microsoft.com/office/powerpoint/2010/main" val="1001204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30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ACAF903-9F3A-419E-B8CF-39A28388F711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1122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11222"/>
                </a:solidFill>
                <a:latin typeface="Aptos"/>
                <a:ea typeface="Aptos"/>
                <a:cs typeface="Aptos"/>
              </a:rPr>
              <a:t>МОДЕЛЬ ПРОЕКТА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56C690D-E241-48E5-8CF9-5F5EAA6D7010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3900" b="0">
                <a:solidFill>
                  <a:srgbClr val="F7F3EC"/>
                </a:solidFill>
                <a:latin typeface="Leporid"/>
                <a:ea typeface="Leporid"/>
                <a:cs typeface="Leporid"/>
              </a:defRPr>
            </a:pPr>
            <a:r>
              <a:rPr sz="3900" b="0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Один проект работает</a:t>
            </a:r>
          </a:p>
          <a:p>
            <a:pPr algn="l">
              <a:defRPr sz="3900" b="0">
                <a:solidFill>
                  <a:srgbClr val="F7F3EC"/>
                </a:solidFill>
                <a:latin typeface="Leporid"/>
                <a:ea typeface="Leporid"/>
                <a:cs typeface="Leporid"/>
              </a:defRPr>
            </a:pPr>
            <a:r>
              <a:rPr sz="3900" b="0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и в событии, и после него.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09D382F-7230-4001-8BB1-F1BD6D5598A7}"/>
              </a:ext>
            </a:extLst>
          </p:cNvPr>
          <p:cNvSpPr>
            <a:spLocks noGrp="1"/>
          </p:cNvSpPr>
          <p:nvPr/>
        </p:nvSpPr>
        <p:spPr>
          <a:xfrm>
            <a:off x="11353800" y="64198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AAA7A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AA7A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6D45341-49D8-4B00-9475-8FED59CF817D}"/>
              </a:ext>
            </a:extLst>
          </p:cNvPr>
          <p:cNvSpPr>
            <a:spLocks noGrp="1"/>
          </p:cNvSpPr>
          <p:nvPr/>
        </p:nvSpPr>
        <p:spPr>
          <a:xfrm>
            <a:off x="685800" y="6505575"/>
            <a:ext cx="10287000" cy="9525"/>
          </a:xfrm>
          <a:prstGeom prst="rect">
            <a:avLst/>
          </a:prstGeom>
          <a:solidFill>
            <a:srgbClr val="343438"/>
          </a:solidFill>
          <a:ln w="0">
            <a:solidFill>
              <a:srgbClr val="343438"/>
            </a:solidFill>
            <a:prstDash val="solid"/>
          </a:ln>
        </p:spPr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D01E5328-6B29-41E9-A46F-27E6DEE43CF0}"/>
              </a:ext>
            </a:extLst>
          </p:cNvPr>
          <p:cNvSpPr>
            <a:spLocks noGrp="1"/>
          </p:cNvSpPr>
          <p:nvPr/>
        </p:nvSpPr>
        <p:spPr>
          <a:xfrm>
            <a:off x="685800" y="2247900"/>
            <a:ext cx="4819650" cy="2971800"/>
          </a:xfrm>
          <a:prstGeom prst="roundRect">
            <a:avLst>
              <a:gd name="adj" fmla="val 5128"/>
            </a:avLst>
          </a:prstGeom>
          <a:solidFill>
            <a:srgbClr val="17171A"/>
          </a:solidFill>
          <a:ln w="9525">
            <a:solidFill>
              <a:srgbClr val="343438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982A630-8316-4179-AB6E-6D8F1352D99A}"/>
              </a:ext>
            </a:extLst>
          </p:cNvPr>
          <p:cNvSpPr>
            <a:spLocks noGrp="1"/>
          </p:cNvSpPr>
          <p:nvPr/>
        </p:nvSpPr>
        <p:spPr>
          <a:xfrm>
            <a:off x="971550" y="2524125"/>
            <a:ext cx="552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3150" b="0">
                <a:solidFill>
                  <a:srgbClr val="F11222"/>
                </a:solidFill>
                <a:latin typeface="Leporid"/>
                <a:ea typeface="Leporid"/>
                <a:cs typeface="Leporid"/>
              </a:defRPr>
            </a:pPr>
            <a:r>
              <a:rPr sz="3150" b="0">
                <a:solidFill>
                  <a:srgbClr val="F11222"/>
                </a:solidFill>
                <a:latin typeface="Leporid"/>
                <a:ea typeface="Leporid"/>
                <a:cs typeface="Leporid"/>
              </a:rPr>
              <a:t>01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810AACE-7034-41CF-B568-9AB835CEF0F9}"/>
              </a:ext>
            </a:extLst>
          </p:cNvPr>
          <p:cNvSpPr>
            <a:spLocks noGrp="1"/>
          </p:cNvSpPr>
          <p:nvPr/>
        </p:nvSpPr>
        <p:spPr>
          <a:xfrm>
            <a:off x="1714500" y="2609850"/>
            <a:ext cx="3143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7F3EC"/>
                </a:solidFill>
                <a:latin typeface="Aptos"/>
                <a:ea typeface="Aptos"/>
                <a:cs typeface="Aptos"/>
              </a:rPr>
              <a:t>Живой формат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1D7BB04-A9D1-42C7-932B-4706AC8497AE}"/>
              </a:ext>
            </a:extLst>
          </p:cNvPr>
          <p:cNvSpPr>
            <a:spLocks noGrp="1"/>
          </p:cNvSpPr>
          <p:nvPr/>
        </p:nvSpPr>
        <p:spPr>
          <a:xfrm>
            <a:off x="971550" y="3314700"/>
            <a:ext cx="3905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7F3EC"/>
                </a:solidFill>
                <a:latin typeface="Aptos"/>
                <a:ea typeface="Aptos"/>
                <a:cs typeface="Aptos"/>
              </a:rPr>
              <a:t>Лекции · выставки · мастер-классы · командные задания · квизы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FA9B367-2121-4725-88CB-F51841EE08C9}"/>
              </a:ext>
            </a:extLst>
          </p:cNvPr>
          <p:cNvSpPr>
            <a:spLocks noGrp="1"/>
          </p:cNvSpPr>
          <p:nvPr/>
        </p:nvSpPr>
        <p:spPr>
          <a:xfrm>
            <a:off x="971550" y="4495800"/>
            <a:ext cx="3810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AAA7A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AA7A2"/>
                </a:solidFill>
                <a:latin typeface="Aptos"/>
                <a:ea typeface="Aptos"/>
                <a:cs typeface="Aptos"/>
              </a:rPr>
              <a:t>Первый контакт строится через участие и разговор.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5955E36-B4BA-4046-9128-08739B7FB7B8}"/>
              </a:ext>
            </a:extLst>
          </p:cNvPr>
          <p:cNvSpPr>
            <a:spLocks noGrp="1"/>
          </p:cNvSpPr>
          <p:nvPr/>
        </p:nvSpPr>
        <p:spPr>
          <a:xfrm>
            <a:off x="5505450" y="3724275"/>
            <a:ext cx="1181100" cy="38100"/>
          </a:xfrm>
          <a:prstGeom prst="rect">
            <a:avLst/>
          </a:prstGeom>
          <a:solidFill>
            <a:srgbClr val="F11222"/>
          </a:solidFill>
          <a:ln w="0">
            <a:solidFill>
              <a:srgbClr val="F11222"/>
            </a:solidFill>
            <a:prstDash val="solid"/>
          </a:ln>
        </p:spPr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FE9597CA-FDB4-4D23-82C9-8574FA939A24}"/>
              </a:ext>
            </a:extLst>
          </p:cNvPr>
          <p:cNvSpPr>
            <a:spLocks noGrp="1"/>
          </p:cNvSpPr>
          <p:nvPr/>
        </p:nvSpPr>
        <p:spPr>
          <a:xfrm>
            <a:off x="6572250" y="3590925"/>
            <a:ext cx="285750" cy="285750"/>
          </a:xfrm>
          <a:prstGeom prst="ellipse">
            <a:avLst/>
          </a:prstGeom>
          <a:solidFill>
            <a:srgbClr val="F11222"/>
          </a:solidFill>
          <a:ln w="0">
            <a:solidFill>
              <a:srgbClr val="F11222"/>
            </a:solidFill>
            <a:prstDash val="solid"/>
          </a:ln>
        </p:spPr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1F210C1-B680-4161-91D9-07408B4CB94A}"/>
              </a:ext>
            </a:extLst>
          </p:cNvPr>
          <p:cNvSpPr>
            <a:spLocks noGrp="1"/>
          </p:cNvSpPr>
          <p:nvPr/>
        </p:nvSpPr>
        <p:spPr>
          <a:xfrm>
            <a:off x="6686550" y="2247900"/>
            <a:ext cx="4819650" cy="2971800"/>
          </a:xfrm>
          <a:prstGeom prst="roundRect">
            <a:avLst>
              <a:gd name="adj" fmla="val 5128"/>
            </a:avLst>
          </a:prstGeom>
          <a:solidFill>
            <a:srgbClr val="17171A"/>
          </a:solidFill>
          <a:ln w="9525">
            <a:solidFill>
              <a:srgbClr val="343438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F2FF4D9-0E88-4C96-BA66-DD67B378C76F}"/>
              </a:ext>
            </a:extLst>
          </p:cNvPr>
          <p:cNvSpPr>
            <a:spLocks noGrp="1"/>
          </p:cNvSpPr>
          <p:nvPr/>
        </p:nvSpPr>
        <p:spPr>
          <a:xfrm>
            <a:off x="6972300" y="2524125"/>
            <a:ext cx="552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3150" b="0">
                <a:solidFill>
                  <a:srgbClr val="F11222"/>
                </a:solidFill>
                <a:latin typeface="Leporid"/>
                <a:ea typeface="Leporid"/>
                <a:cs typeface="Leporid"/>
              </a:defRPr>
            </a:pPr>
            <a:r>
              <a:rPr sz="3150" b="0">
                <a:solidFill>
                  <a:srgbClr val="F11222"/>
                </a:solidFill>
                <a:latin typeface="Leporid"/>
                <a:ea typeface="Leporid"/>
                <a:cs typeface="Leporid"/>
              </a:rPr>
              <a:t>02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C5EA99D7-95D7-4DC3-9153-FE38944F8A65}"/>
              </a:ext>
            </a:extLst>
          </p:cNvPr>
          <p:cNvSpPr>
            <a:spLocks noGrp="1"/>
          </p:cNvSpPr>
          <p:nvPr/>
        </p:nvSpPr>
        <p:spPr>
          <a:xfrm>
            <a:off x="7715250" y="2609850"/>
            <a:ext cx="3333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7F3EC"/>
                </a:solidFill>
                <a:latin typeface="Aptos"/>
                <a:ea typeface="Aptos"/>
                <a:cs typeface="Aptos"/>
              </a:rPr>
              <a:t>Цифровое продолжение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F51235B-8D86-4F93-A8EA-A34C9A56D086}"/>
              </a:ext>
            </a:extLst>
          </p:cNvPr>
          <p:cNvSpPr>
            <a:spLocks noGrp="1"/>
          </p:cNvSpPr>
          <p:nvPr/>
        </p:nvSpPr>
        <p:spPr>
          <a:xfrm>
            <a:off x="6972300" y="3314700"/>
            <a:ext cx="3905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7F3EC"/>
                </a:solidFill>
                <a:latin typeface="Aptos"/>
                <a:ea typeface="Aptos"/>
                <a:cs typeface="Aptos"/>
              </a:rPr>
              <a:t>Онлайн-атлас · статьи · карточки · тесты · личный результат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8B2AF89B-FC94-47E4-A458-2A9F3A2A518E}"/>
              </a:ext>
            </a:extLst>
          </p:cNvPr>
          <p:cNvSpPr>
            <a:spLocks noGrp="1"/>
          </p:cNvSpPr>
          <p:nvPr/>
        </p:nvSpPr>
        <p:spPr>
          <a:xfrm>
            <a:off x="6972300" y="4495800"/>
            <a:ext cx="3810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AAA7A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AA7A2"/>
                </a:solidFill>
                <a:latin typeface="Aptos"/>
                <a:ea typeface="Aptos"/>
                <a:cs typeface="Aptos"/>
              </a:rPr>
              <a:t>Интерес не заканчивается вместе с мероприятием.</a:t>
            </a:r>
          </a:p>
        </p:txBody>
      </p:sp>
    </p:spTree>
    <p:extLst>
      <p:ext uri="{BB962C8B-B14F-4D97-AF65-F5344CB8AC3E}">
        <p14:creationId xmlns:p14="http://schemas.microsoft.com/office/powerpoint/2010/main" val="1425607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AA1D818-EA3A-4B5F-A8CD-E597A517554E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1122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11222"/>
                </a:solidFill>
                <a:latin typeface="Aptos"/>
                <a:ea typeface="Aptos"/>
                <a:cs typeface="Aptos"/>
              </a:rPr>
              <a:t>29 АПРЕЛЯ · ПЕРВОЕ МЕРОПРИЯТИЕ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B466E8C-C657-42AE-BAE6-1B911F3E9E6A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3900" b="0">
                <a:solidFill>
                  <a:srgbClr val="F7F3EC"/>
                </a:solidFill>
                <a:latin typeface="Leporid"/>
                <a:ea typeface="Leporid"/>
                <a:cs typeface="Leporid"/>
              </a:defRPr>
            </a:pPr>
            <a:r>
              <a:rPr sz="3900" b="0" dirty="0" err="1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Первый</a:t>
            </a:r>
            <a:r>
              <a:rPr sz="3900" b="0" dirty="0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 </a:t>
            </a:r>
            <a:r>
              <a:rPr sz="3900" b="0" dirty="0" err="1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формат</a:t>
            </a:r>
            <a:r>
              <a:rPr sz="3900" b="0" dirty="0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 </a:t>
            </a:r>
            <a:r>
              <a:rPr sz="3900" b="0" dirty="0" err="1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уже</a:t>
            </a:r>
            <a:r>
              <a:rPr sz="3900" b="0" dirty="0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 </a:t>
            </a:r>
            <a:r>
              <a:rPr sz="3900" b="0" dirty="0" err="1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прошёл</a:t>
            </a:r>
            <a:endParaRPr sz="3900" b="0" dirty="0">
              <a:solidFill>
                <a:srgbClr val="F7F3EC"/>
              </a:solidFill>
              <a:latin typeface="Leporid"/>
              <a:ea typeface="Leporid"/>
              <a:cs typeface="Leporid"/>
            </a:endParaRPr>
          </a:p>
          <a:p>
            <a:pPr algn="l">
              <a:defRPr sz="3900" b="0">
                <a:solidFill>
                  <a:srgbClr val="F7F3EC"/>
                </a:solidFill>
                <a:latin typeface="Leporid"/>
                <a:ea typeface="Leporid"/>
                <a:cs typeface="Leporid"/>
              </a:defRPr>
            </a:pPr>
            <a:r>
              <a:rPr sz="3900" b="0" dirty="0" err="1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проверку</a:t>
            </a:r>
            <a:r>
              <a:rPr sz="3900" b="0" dirty="0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 </a:t>
            </a:r>
            <a:r>
              <a:rPr sz="3900" b="0" dirty="0" err="1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живой</a:t>
            </a:r>
            <a:r>
              <a:rPr sz="3900" b="0" dirty="0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 </a:t>
            </a:r>
            <a:r>
              <a:rPr sz="3900" b="0" dirty="0" err="1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аудиторией</a:t>
            </a:r>
            <a:r>
              <a:rPr sz="3900" b="0" dirty="0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.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6501FFF-FD3D-4ECC-8122-895CB4B2F13F}"/>
              </a:ext>
            </a:extLst>
          </p:cNvPr>
          <p:cNvSpPr>
            <a:spLocks noGrp="1"/>
          </p:cNvSpPr>
          <p:nvPr/>
        </p:nvSpPr>
        <p:spPr>
          <a:xfrm>
            <a:off x="11353800" y="64198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AAA7A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AA7A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1C3A05F-BE3A-4B8B-AD7E-562EB2B1E4A3}"/>
              </a:ext>
            </a:extLst>
          </p:cNvPr>
          <p:cNvSpPr>
            <a:spLocks noGrp="1"/>
          </p:cNvSpPr>
          <p:nvPr/>
        </p:nvSpPr>
        <p:spPr>
          <a:xfrm>
            <a:off x="685800" y="6505575"/>
            <a:ext cx="10287000" cy="9525"/>
          </a:xfrm>
          <a:prstGeom prst="rect">
            <a:avLst/>
          </a:prstGeom>
          <a:solidFill>
            <a:srgbClr val="343438"/>
          </a:solidFill>
          <a:ln w="0">
            <a:solidFill>
              <a:srgbClr val="343438"/>
            </a:solidFill>
            <a:prstDash val="solid"/>
          </a:ln>
        </p:spPr>
      </p:sp>
      <p:pic>
        <p:nvPicPr>
          <p:cNvPr id="26" name="Рисунок 25"/>
          <p:cNvPicPr>
            <a:picLocks noChangeAspect="1"/>
          </p:cNvPicPr>
          <p:nvPr/>
        </p:nvPicPr>
        <p:blipFill>
          <a:blip r:embed="rId3"/>
          <a:srcRect t="10670" b="10670"/>
          <a:stretch>
            <a:fillRect/>
          </a:stretch>
        </p:blipFill>
        <p:spPr>
          <a:xfrm>
            <a:off x="685800" y="2095500"/>
            <a:ext cx="3333750" cy="3810000"/>
          </a:xfrm>
          <a:prstGeom prst="roundRect">
            <a:avLst>
              <a:gd name="adj" fmla="val 4571"/>
            </a:avLst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4"/>
          <a:srcRect t="21808" b="21808"/>
          <a:stretch>
            <a:fillRect/>
          </a:stretch>
        </p:blipFill>
        <p:spPr>
          <a:xfrm>
            <a:off x="4171950" y="2095500"/>
            <a:ext cx="2133600" cy="1828800"/>
          </a:xfrm>
          <a:prstGeom prst="roundRect">
            <a:avLst>
              <a:gd name="adj" fmla="val 6250"/>
            </a:avLst>
          </a:prstGeom>
        </p:spPr>
      </p:pic>
      <p:pic>
        <p:nvPicPr>
          <p:cNvPr id="28" name="Рисунок 27"/>
          <p:cNvPicPr>
            <a:picLocks noChangeAspect="1"/>
          </p:cNvPicPr>
          <p:nvPr/>
        </p:nvPicPr>
        <p:blipFill>
          <a:blip r:embed="rId5"/>
          <a:srcRect t="18326" b="18326"/>
          <a:stretch>
            <a:fillRect/>
          </a:stretch>
        </p:blipFill>
        <p:spPr>
          <a:xfrm>
            <a:off x="4171950" y="4076700"/>
            <a:ext cx="2133600" cy="1828800"/>
          </a:xfrm>
          <a:prstGeom prst="roundRect">
            <a:avLst>
              <a:gd name="adj" fmla="val 6250"/>
            </a:avLst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13EE22F-20F7-449E-9C57-9C669462FE65}"/>
              </a:ext>
            </a:extLst>
          </p:cNvPr>
          <p:cNvSpPr>
            <a:spLocks noGrp="1"/>
          </p:cNvSpPr>
          <p:nvPr/>
        </p:nvSpPr>
        <p:spPr>
          <a:xfrm>
            <a:off x="6819900" y="21717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1122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11222"/>
                </a:solidFill>
                <a:latin typeface="Aptos"/>
                <a:ea typeface="Aptos"/>
                <a:cs typeface="Aptos"/>
              </a:rPr>
              <a:t>В одной встрече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2184D65-0296-4565-9C32-E8A98DF1B1BB}"/>
              </a:ext>
            </a:extLst>
          </p:cNvPr>
          <p:cNvSpPr>
            <a:spLocks noGrp="1"/>
          </p:cNvSpPr>
          <p:nvPr/>
        </p:nvSpPr>
        <p:spPr>
          <a:xfrm>
            <a:off x="6819900" y="2686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AAA7A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AA7A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AE0FAAF-CA57-4350-AB27-A2EC97F8193D}"/>
              </a:ext>
            </a:extLst>
          </p:cNvPr>
          <p:cNvSpPr>
            <a:spLocks noGrp="1"/>
          </p:cNvSpPr>
          <p:nvPr/>
        </p:nvSpPr>
        <p:spPr>
          <a:xfrm>
            <a:off x="7372350" y="2647950"/>
            <a:ext cx="3714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3EC"/>
                </a:solidFill>
                <a:latin typeface="Aptos"/>
                <a:ea typeface="Aptos"/>
                <a:cs typeface="Aptos"/>
              </a:rPr>
              <a:t>просветительская лекция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B465D83-5360-452F-A726-0A49EB45CC87}"/>
              </a:ext>
            </a:extLst>
          </p:cNvPr>
          <p:cNvSpPr>
            <a:spLocks noGrp="1"/>
          </p:cNvSpPr>
          <p:nvPr/>
        </p:nvSpPr>
        <p:spPr>
          <a:xfrm>
            <a:off x="7372350" y="3238500"/>
            <a:ext cx="3714750" cy="9525"/>
          </a:xfrm>
          <a:prstGeom prst="rect">
            <a:avLst/>
          </a:prstGeom>
          <a:solidFill>
            <a:srgbClr val="343438"/>
          </a:solidFill>
          <a:ln w="0">
            <a:solidFill>
              <a:srgbClr val="343438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D6C4CFE-9B93-442B-AE1C-0D40523738F8}"/>
              </a:ext>
            </a:extLst>
          </p:cNvPr>
          <p:cNvSpPr>
            <a:spLocks noGrp="1"/>
          </p:cNvSpPr>
          <p:nvPr/>
        </p:nvSpPr>
        <p:spPr>
          <a:xfrm>
            <a:off x="6819900" y="33718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AAA7A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AA7A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4F521CB-F45F-4D18-BC8E-FBC252D56507}"/>
              </a:ext>
            </a:extLst>
          </p:cNvPr>
          <p:cNvSpPr>
            <a:spLocks noGrp="1"/>
          </p:cNvSpPr>
          <p:nvPr/>
        </p:nvSpPr>
        <p:spPr>
          <a:xfrm>
            <a:off x="7372350" y="3333750"/>
            <a:ext cx="3714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3EC"/>
                </a:solidFill>
                <a:latin typeface="Aptos"/>
                <a:ea typeface="Aptos"/>
                <a:cs typeface="Aptos"/>
              </a:rPr>
              <a:t>знакомство с культурными предметами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1002851B-E3F5-4970-8CE5-B8EF509F151B}"/>
              </a:ext>
            </a:extLst>
          </p:cNvPr>
          <p:cNvSpPr>
            <a:spLocks noGrp="1"/>
          </p:cNvSpPr>
          <p:nvPr/>
        </p:nvSpPr>
        <p:spPr>
          <a:xfrm>
            <a:off x="7372350" y="3924300"/>
            <a:ext cx="3714750" cy="9525"/>
          </a:xfrm>
          <a:prstGeom prst="rect">
            <a:avLst/>
          </a:prstGeom>
          <a:solidFill>
            <a:srgbClr val="343438"/>
          </a:solidFill>
          <a:ln w="0">
            <a:solidFill>
              <a:srgbClr val="343438"/>
            </a:solidFill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B5EE182-78C9-4971-82D7-3CEE3F6E1510}"/>
              </a:ext>
            </a:extLst>
          </p:cNvPr>
          <p:cNvSpPr>
            <a:spLocks noGrp="1"/>
          </p:cNvSpPr>
          <p:nvPr/>
        </p:nvSpPr>
        <p:spPr>
          <a:xfrm>
            <a:off x="6819900" y="40576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AAA7A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AA7A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B78C812-3D35-4C7B-AB38-909F0021A6D5}"/>
              </a:ext>
            </a:extLst>
          </p:cNvPr>
          <p:cNvSpPr>
            <a:spLocks noGrp="1"/>
          </p:cNvSpPr>
          <p:nvPr/>
        </p:nvSpPr>
        <p:spPr>
          <a:xfrm>
            <a:off x="7372350" y="4019550"/>
            <a:ext cx="3714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3EC"/>
                </a:solidFill>
                <a:latin typeface="Aptos"/>
                <a:ea typeface="Aptos"/>
                <a:cs typeface="Aptos"/>
              </a:rPr>
              <a:t>практические и командные задания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5F2E5FAF-C714-4DA9-85C4-F5AC5731441A}"/>
              </a:ext>
            </a:extLst>
          </p:cNvPr>
          <p:cNvSpPr>
            <a:spLocks noGrp="1"/>
          </p:cNvSpPr>
          <p:nvPr/>
        </p:nvSpPr>
        <p:spPr>
          <a:xfrm>
            <a:off x="7372350" y="4610100"/>
            <a:ext cx="3714750" cy="9525"/>
          </a:xfrm>
          <a:prstGeom prst="rect">
            <a:avLst/>
          </a:prstGeom>
          <a:solidFill>
            <a:srgbClr val="343438"/>
          </a:solidFill>
          <a:ln w="0">
            <a:solidFill>
              <a:srgbClr val="343438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1C7AD3EC-B763-423B-9AD6-F121F1567771}"/>
              </a:ext>
            </a:extLst>
          </p:cNvPr>
          <p:cNvSpPr>
            <a:spLocks noGrp="1"/>
          </p:cNvSpPr>
          <p:nvPr/>
        </p:nvSpPr>
        <p:spPr>
          <a:xfrm>
            <a:off x="6819900" y="47434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AAA7A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AA7A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89F3D88D-CF74-4012-87DC-3EAE50D8B474}"/>
              </a:ext>
            </a:extLst>
          </p:cNvPr>
          <p:cNvSpPr>
            <a:spLocks noGrp="1"/>
          </p:cNvSpPr>
          <p:nvPr/>
        </p:nvSpPr>
        <p:spPr>
          <a:xfrm>
            <a:off x="7372350" y="4705350"/>
            <a:ext cx="3714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3EC"/>
                </a:solidFill>
                <a:latin typeface="Aptos"/>
                <a:ea typeface="Aptos"/>
                <a:cs typeface="Aptos"/>
              </a:rPr>
              <a:t>тематический квиз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D51B7DB3-5A05-4E8B-823A-6A7AB54B2122}"/>
              </a:ext>
            </a:extLst>
          </p:cNvPr>
          <p:cNvSpPr>
            <a:spLocks noGrp="1"/>
          </p:cNvSpPr>
          <p:nvPr/>
        </p:nvSpPr>
        <p:spPr>
          <a:xfrm>
            <a:off x="7372350" y="5295900"/>
            <a:ext cx="3714750" cy="9525"/>
          </a:xfrm>
          <a:prstGeom prst="rect">
            <a:avLst/>
          </a:prstGeom>
          <a:solidFill>
            <a:srgbClr val="343438"/>
          </a:solidFill>
          <a:ln w="0">
            <a:solidFill>
              <a:srgbClr val="343438"/>
            </a:solidFill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41E01959-7428-47C4-BB7B-17D6742409DD}"/>
              </a:ext>
            </a:extLst>
          </p:cNvPr>
          <p:cNvSpPr>
            <a:spLocks noGrp="1"/>
          </p:cNvSpPr>
          <p:nvPr/>
        </p:nvSpPr>
        <p:spPr>
          <a:xfrm>
            <a:off x="6819900" y="5524500"/>
            <a:ext cx="447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AAA7A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AA7A2"/>
                </a:solidFill>
                <a:latin typeface="Aptos"/>
                <a:ea typeface="Aptos"/>
                <a:cs typeface="Aptos"/>
              </a:rPr>
              <a:t>Формат объединяет знания, предметный опыт и командное участие.</a:t>
            </a:r>
          </a:p>
        </p:txBody>
      </p:sp>
    </p:spTree>
    <p:extLst>
      <p:ext uri="{BB962C8B-B14F-4D97-AF65-F5344CB8AC3E}">
        <p14:creationId xmlns:p14="http://schemas.microsoft.com/office/powerpoint/2010/main" val="1994796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30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/>
          <p:cNvPicPr>
            <a:picLocks noChangeAspect="1"/>
          </p:cNvPicPr>
          <p:nvPr/>
        </p:nvPicPr>
        <p:blipFill>
          <a:blip r:embed="rId3"/>
          <a:srcRect l="1852" r="1852"/>
          <a:stretch>
            <a:fillRect/>
          </a:stretch>
        </p:blipFill>
        <p:spPr>
          <a:xfrm>
            <a:off x="0" y="0"/>
            <a:ext cx="4953000" cy="68580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133E344-A64A-4369-9141-8610755C7329}"/>
              </a:ext>
            </a:extLst>
          </p:cNvPr>
          <p:cNvSpPr>
            <a:spLocks noGrp="1"/>
          </p:cNvSpPr>
          <p:nvPr/>
        </p:nvSpPr>
        <p:spPr>
          <a:xfrm>
            <a:off x="4000500" y="0"/>
            <a:ext cx="1428750" cy="6858000"/>
          </a:xfrm>
          <a:prstGeom prst="rect">
            <a:avLst/>
          </a:prstGeom>
          <a:solidFill>
            <a:srgbClr val="030303">
              <a:alpha val="72157"/>
            </a:srgbClr>
          </a:solidFill>
          <a:ln w="0">
            <a:solidFill>
              <a:srgbClr val="030303">
                <a:alpha val="72157"/>
              </a:srgbClr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BD2BF75-9ED7-465E-B479-B6CD32AB0B2D}"/>
              </a:ext>
            </a:extLst>
          </p:cNvPr>
          <p:cNvSpPr>
            <a:spLocks noGrp="1"/>
          </p:cNvSpPr>
          <p:nvPr/>
        </p:nvSpPr>
        <p:spPr>
          <a:xfrm>
            <a:off x="5429250" y="495300"/>
            <a:ext cx="533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1122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11222"/>
                </a:solidFill>
                <a:latin typeface="Aptos"/>
                <a:ea typeface="Aptos"/>
                <a:cs typeface="Aptos"/>
              </a:rPr>
              <a:t>27 ИЮНЯ · ДЕНЬ МОЛОДЁЖИ В ХАБАРОВСКЕ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4EF55FB-CA76-4A0B-9BB1-DC0DD1E18A91}"/>
              </a:ext>
            </a:extLst>
          </p:cNvPr>
          <p:cNvSpPr>
            <a:spLocks noGrp="1"/>
          </p:cNvSpPr>
          <p:nvPr/>
        </p:nvSpPr>
        <p:spPr>
          <a:xfrm>
            <a:off x="5429250" y="838200"/>
            <a:ext cx="5905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3300" b="0">
                <a:solidFill>
                  <a:srgbClr val="F7F3EC"/>
                </a:solidFill>
                <a:latin typeface="Leporid"/>
                <a:ea typeface="Leporid"/>
                <a:cs typeface="Leporid"/>
              </a:defRPr>
            </a:pPr>
            <a:r>
              <a:rPr sz="3300" b="0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Проект вышел</a:t>
            </a:r>
          </a:p>
          <a:p>
            <a:pPr algn="l">
              <a:defRPr sz="3300" b="0">
                <a:solidFill>
                  <a:srgbClr val="F7F3EC"/>
                </a:solidFill>
                <a:latin typeface="Leporid"/>
                <a:ea typeface="Leporid"/>
                <a:cs typeface="Leporid"/>
              </a:defRPr>
            </a:pPr>
            <a:r>
              <a:rPr sz="3300" b="0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в открытое городское</a:t>
            </a:r>
          </a:p>
          <a:p>
            <a:pPr algn="l">
              <a:defRPr sz="3300" b="0">
                <a:solidFill>
                  <a:srgbClr val="F7F3EC"/>
                </a:solidFill>
                <a:latin typeface="Leporid"/>
                <a:ea typeface="Leporid"/>
                <a:cs typeface="Leporid"/>
              </a:defRPr>
            </a:pPr>
            <a:r>
              <a:rPr sz="3300" b="0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пространство.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C415AE7-6821-4806-839C-54B082375803}"/>
              </a:ext>
            </a:extLst>
          </p:cNvPr>
          <p:cNvSpPr>
            <a:spLocks noGrp="1"/>
          </p:cNvSpPr>
          <p:nvPr/>
        </p:nvSpPr>
        <p:spPr>
          <a:xfrm>
            <a:off x="5429250" y="2381250"/>
            <a:ext cx="5715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3EC"/>
                </a:solidFill>
                <a:latin typeface="Aptos"/>
                <a:ea typeface="Aptos"/>
                <a:cs typeface="Aptos"/>
              </a:rPr>
              <a:t>Лекция, выставка, мастер-классы и живое общение работали как единая площадка знакомства с культурами региона.</a:t>
            </a:r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rcRect t="11124" b="11124"/>
          <a:stretch>
            <a:fillRect/>
          </a:stretch>
        </p:blipFill>
        <p:spPr>
          <a:xfrm>
            <a:off x="5429250" y="3352800"/>
            <a:ext cx="1809750" cy="2095500"/>
          </a:xfrm>
          <a:prstGeom prst="roundRect">
            <a:avLst>
              <a:gd name="adj" fmla="val 6316"/>
            </a:avLst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5"/>
          <a:srcRect t="9312" b="9312"/>
          <a:stretch>
            <a:fillRect/>
          </a:stretch>
        </p:blipFill>
        <p:spPr>
          <a:xfrm>
            <a:off x="7372350" y="3352800"/>
            <a:ext cx="1809750" cy="2095500"/>
          </a:xfrm>
          <a:prstGeom prst="roundRect">
            <a:avLst>
              <a:gd name="adj" fmla="val 6316"/>
            </a:avLst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6"/>
          <a:srcRect t="7710" b="7710"/>
          <a:stretch>
            <a:fillRect/>
          </a:stretch>
        </p:blipFill>
        <p:spPr>
          <a:xfrm>
            <a:off x="9315450" y="3352800"/>
            <a:ext cx="1809750" cy="2095500"/>
          </a:xfrm>
          <a:prstGeom prst="roundRect">
            <a:avLst>
              <a:gd name="adj" fmla="val 6316"/>
            </a:avLst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67EBA59-D523-4551-9C8D-AA5C75C34AC7}"/>
              </a:ext>
            </a:extLst>
          </p:cNvPr>
          <p:cNvSpPr>
            <a:spLocks noGrp="1"/>
          </p:cNvSpPr>
          <p:nvPr/>
        </p:nvSpPr>
        <p:spPr>
          <a:xfrm>
            <a:off x="5429250" y="56007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AAA7A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A7A2"/>
                </a:solidFill>
                <a:latin typeface="Aptos"/>
                <a:ea typeface="Aptos"/>
                <a:cs typeface="Aptos"/>
              </a:rPr>
              <a:t>лекция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E6D7F7E-B5C3-4C2B-B701-087E80AE6C8F}"/>
              </a:ext>
            </a:extLst>
          </p:cNvPr>
          <p:cNvSpPr>
            <a:spLocks noGrp="1"/>
          </p:cNvSpPr>
          <p:nvPr/>
        </p:nvSpPr>
        <p:spPr>
          <a:xfrm>
            <a:off x="7372350" y="56007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AAA7A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A7A2"/>
                </a:solidFill>
                <a:latin typeface="Aptos"/>
                <a:ea typeface="Aptos"/>
                <a:cs typeface="Aptos"/>
              </a:rPr>
              <a:t>участие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0D7367B-4B72-4B3F-BE2E-DC1509DB8E1C}"/>
              </a:ext>
            </a:extLst>
          </p:cNvPr>
          <p:cNvSpPr>
            <a:spLocks noGrp="1"/>
          </p:cNvSpPr>
          <p:nvPr/>
        </p:nvSpPr>
        <p:spPr>
          <a:xfrm>
            <a:off x="9315450" y="56007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AAA7A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AA7A2"/>
                </a:solidFill>
                <a:latin typeface="Aptos"/>
                <a:ea typeface="Aptos"/>
                <a:cs typeface="Aptos"/>
              </a:rPr>
              <a:t>мастер-класс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A11A915B-C67E-4D15-A547-AFD012F4D579}"/>
              </a:ext>
            </a:extLst>
          </p:cNvPr>
          <p:cNvSpPr>
            <a:spLocks noGrp="1"/>
          </p:cNvSpPr>
          <p:nvPr/>
        </p:nvSpPr>
        <p:spPr>
          <a:xfrm>
            <a:off x="11353800" y="64198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AAA7A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AA7A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72780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1BC1908E-611E-408A-8E82-A4511CAAD991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1122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11222"/>
                </a:solidFill>
                <a:latin typeface="Aptos"/>
                <a:ea typeface="Aptos"/>
                <a:cs typeface="Aptos"/>
              </a:rPr>
              <a:t>ЦИФРОВАЯ ПЛАТФОРМА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BE895EC-A67A-43DC-957E-2806270CCEBB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3900" b="0">
                <a:solidFill>
                  <a:srgbClr val="F7F3EC"/>
                </a:solidFill>
                <a:latin typeface="Leporid"/>
                <a:ea typeface="Leporid"/>
                <a:cs typeface="Leporid"/>
              </a:defRPr>
            </a:pPr>
            <a:r>
              <a:rPr sz="3900" b="0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После события интерес</a:t>
            </a:r>
          </a:p>
          <a:p>
            <a:pPr algn="l">
              <a:defRPr sz="3900" b="0">
                <a:solidFill>
                  <a:srgbClr val="F7F3EC"/>
                </a:solidFill>
                <a:latin typeface="Leporid"/>
                <a:ea typeface="Leporid"/>
                <a:cs typeface="Leporid"/>
              </a:defRPr>
            </a:pPr>
            <a:r>
              <a:rPr sz="3900" b="0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не обрывается.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E24B985-4EF9-4511-9EAB-CC154A7F3AEC}"/>
              </a:ext>
            </a:extLst>
          </p:cNvPr>
          <p:cNvSpPr>
            <a:spLocks noGrp="1"/>
          </p:cNvSpPr>
          <p:nvPr/>
        </p:nvSpPr>
        <p:spPr>
          <a:xfrm>
            <a:off x="11353800" y="64198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AAA7A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AA7A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A7BB678-F858-4011-9DE9-D0B8507C1C09}"/>
              </a:ext>
            </a:extLst>
          </p:cNvPr>
          <p:cNvSpPr>
            <a:spLocks noGrp="1"/>
          </p:cNvSpPr>
          <p:nvPr/>
        </p:nvSpPr>
        <p:spPr>
          <a:xfrm>
            <a:off x="685800" y="6505575"/>
            <a:ext cx="10287000" cy="9525"/>
          </a:xfrm>
          <a:prstGeom prst="rect">
            <a:avLst/>
          </a:prstGeom>
          <a:solidFill>
            <a:srgbClr val="343438"/>
          </a:solidFill>
          <a:ln w="0">
            <a:solidFill>
              <a:srgbClr val="343438"/>
            </a:solidFill>
            <a:prstDash val="solid"/>
          </a:ln>
        </p:spPr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4FFDED37-3662-4349-879F-FC57E34FA67F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4248150" cy="3905250"/>
          </a:xfrm>
          <a:prstGeom prst="roundRect">
            <a:avLst>
              <a:gd name="adj" fmla="val 3902"/>
            </a:avLst>
          </a:prstGeom>
          <a:solidFill>
            <a:srgbClr val="17171A"/>
          </a:solidFill>
          <a:ln w="9525">
            <a:solidFill>
              <a:srgbClr val="343438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313EE5F-CD24-46F7-81AA-4A3A04053EF2}"/>
              </a:ext>
            </a:extLst>
          </p:cNvPr>
          <p:cNvSpPr>
            <a:spLocks noGrp="1"/>
          </p:cNvSpPr>
          <p:nvPr/>
        </p:nvSpPr>
        <p:spPr>
          <a:xfrm>
            <a:off x="990600" y="2305050"/>
            <a:ext cx="1238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5400" b="0">
                <a:solidFill>
                  <a:srgbClr val="F11222"/>
                </a:solidFill>
                <a:latin typeface="Leporid"/>
                <a:ea typeface="Leporid"/>
                <a:cs typeface="Leporid"/>
              </a:defRPr>
            </a:pPr>
            <a:r>
              <a:rPr sz="5400" b="0">
                <a:solidFill>
                  <a:srgbClr val="F11222"/>
                </a:solidFill>
                <a:latin typeface="Leporid"/>
                <a:ea typeface="Leporid"/>
                <a:cs typeface="Leporid"/>
              </a:rPr>
              <a:t>20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5F59AD7-968E-44F9-A522-D14BE614F79D}"/>
              </a:ext>
            </a:extLst>
          </p:cNvPr>
          <p:cNvSpPr>
            <a:spLocks noGrp="1"/>
          </p:cNvSpPr>
          <p:nvPr/>
        </p:nvSpPr>
        <p:spPr>
          <a:xfrm>
            <a:off x="2266950" y="2428875"/>
            <a:ext cx="2095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7F3EC"/>
                </a:solidFill>
                <a:latin typeface="Aptos"/>
                <a:ea typeface="Aptos"/>
                <a:cs typeface="Aptos"/>
              </a:rPr>
              <a:t>народов</a:t>
            </a:r>
          </a:p>
          <a:p>
            <a:pPr algn="l">
              <a:defRPr sz="1875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7F3EC"/>
                </a:solidFill>
                <a:latin typeface="Aptos"/>
                <a:ea typeface="Aptos"/>
                <a:cs typeface="Aptos"/>
              </a:rPr>
              <a:t>в онлайн-атласе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2435A62-9EEA-4832-9A15-0753A899D2C7}"/>
              </a:ext>
            </a:extLst>
          </p:cNvPr>
          <p:cNvSpPr>
            <a:spLocks noGrp="1"/>
          </p:cNvSpPr>
          <p:nvPr/>
        </p:nvSpPr>
        <p:spPr>
          <a:xfrm>
            <a:off x="990600" y="3257550"/>
            <a:ext cx="3638550" cy="9525"/>
          </a:xfrm>
          <a:prstGeom prst="rect">
            <a:avLst/>
          </a:prstGeom>
          <a:solidFill>
            <a:srgbClr val="343438"/>
          </a:solidFill>
          <a:ln w="0">
            <a:solidFill>
              <a:srgbClr val="343438"/>
            </a:solidFill>
            <a:prstDash val="solid"/>
          </a:ln>
        </p:spPr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58486CCC-2E5A-47C3-9151-1D54C9B7FEF5}"/>
              </a:ext>
            </a:extLst>
          </p:cNvPr>
          <p:cNvSpPr>
            <a:spLocks noGrp="1"/>
          </p:cNvSpPr>
          <p:nvPr/>
        </p:nvSpPr>
        <p:spPr>
          <a:xfrm>
            <a:off x="990600" y="3543300"/>
            <a:ext cx="76200" cy="76200"/>
          </a:xfrm>
          <a:prstGeom prst="ellipse">
            <a:avLst/>
          </a:prstGeom>
          <a:solidFill>
            <a:srgbClr val="F11222"/>
          </a:solidFill>
          <a:ln w="0">
            <a:solidFill>
              <a:srgbClr val="F11222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73AA01E-AA70-4706-A69C-F3F4DE8C46D3}"/>
              </a:ext>
            </a:extLst>
          </p:cNvPr>
          <p:cNvSpPr>
            <a:spLocks noGrp="1"/>
          </p:cNvSpPr>
          <p:nvPr/>
        </p:nvSpPr>
        <p:spPr>
          <a:xfrm>
            <a:off x="1219200" y="3467100"/>
            <a:ext cx="323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3EC"/>
                </a:solidFill>
                <a:latin typeface="Aptos"/>
                <a:ea typeface="Aptos"/>
                <a:cs typeface="Aptos"/>
              </a:rPr>
              <a:t>отдельные страницы о каждом народе</a:t>
            </a: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97EF672B-EF2A-4534-884A-0B1AD004B55E}"/>
              </a:ext>
            </a:extLst>
          </p:cNvPr>
          <p:cNvSpPr>
            <a:spLocks noGrp="1"/>
          </p:cNvSpPr>
          <p:nvPr/>
        </p:nvSpPr>
        <p:spPr>
          <a:xfrm>
            <a:off x="990600" y="4048125"/>
            <a:ext cx="76200" cy="76200"/>
          </a:xfrm>
          <a:prstGeom prst="ellipse">
            <a:avLst/>
          </a:prstGeom>
          <a:solidFill>
            <a:srgbClr val="F11222"/>
          </a:solidFill>
          <a:ln w="0">
            <a:solidFill>
              <a:srgbClr val="F11222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3628C7D-E577-435E-8047-F690022567F2}"/>
              </a:ext>
            </a:extLst>
          </p:cNvPr>
          <p:cNvSpPr>
            <a:spLocks noGrp="1"/>
          </p:cNvSpPr>
          <p:nvPr/>
        </p:nvSpPr>
        <p:spPr>
          <a:xfrm>
            <a:off x="1219200" y="3971925"/>
            <a:ext cx="323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3EC"/>
                </a:solidFill>
                <a:latin typeface="Aptos"/>
                <a:ea typeface="Aptos"/>
                <a:cs typeface="Aptos"/>
              </a:rPr>
              <a:t>территории, языки и культурные традиции</a:t>
            </a: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DF467777-4728-4CC5-92F0-AD2FFA8C0EBC}"/>
              </a:ext>
            </a:extLst>
          </p:cNvPr>
          <p:cNvSpPr>
            <a:spLocks noGrp="1"/>
          </p:cNvSpPr>
          <p:nvPr/>
        </p:nvSpPr>
        <p:spPr>
          <a:xfrm>
            <a:off x="990600" y="4552950"/>
            <a:ext cx="76200" cy="76200"/>
          </a:xfrm>
          <a:prstGeom prst="ellipse">
            <a:avLst/>
          </a:prstGeom>
          <a:solidFill>
            <a:srgbClr val="F11222"/>
          </a:solidFill>
          <a:ln w="0">
            <a:solidFill>
              <a:srgbClr val="F11222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1D93587-61AE-4A87-BD4B-8D7FDBBD631D}"/>
              </a:ext>
            </a:extLst>
          </p:cNvPr>
          <p:cNvSpPr>
            <a:spLocks noGrp="1"/>
          </p:cNvSpPr>
          <p:nvPr/>
        </p:nvSpPr>
        <p:spPr>
          <a:xfrm>
            <a:off x="1219200" y="4476750"/>
            <a:ext cx="323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3EC"/>
                </a:solidFill>
                <a:latin typeface="Aptos"/>
                <a:ea typeface="Aptos"/>
                <a:cs typeface="Aptos"/>
              </a:rPr>
              <a:t>образовательные карточки и мини-тесты</a:t>
            </a: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F9B531C6-AD46-4A6C-AFB1-7DF5FAA74932}"/>
              </a:ext>
            </a:extLst>
          </p:cNvPr>
          <p:cNvSpPr>
            <a:spLocks noGrp="1"/>
          </p:cNvSpPr>
          <p:nvPr/>
        </p:nvSpPr>
        <p:spPr>
          <a:xfrm>
            <a:off x="990600" y="5057775"/>
            <a:ext cx="76200" cy="76200"/>
          </a:xfrm>
          <a:prstGeom prst="ellipse">
            <a:avLst/>
          </a:prstGeom>
          <a:solidFill>
            <a:srgbClr val="F11222"/>
          </a:solidFill>
          <a:ln w="0">
            <a:solidFill>
              <a:srgbClr val="F11222"/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07D19FC-A63B-4DA9-8CC9-1E304C813CAE}"/>
              </a:ext>
            </a:extLst>
          </p:cNvPr>
          <p:cNvSpPr>
            <a:spLocks noGrp="1"/>
          </p:cNvSpPr>
          <p:nvPr/>
        </p:nvSpPr>
        <p:spPr>
          <a:xfrm>
            <a:off x="1219200" y="4981575"/>
            <a:ext cx="323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3EC"/>
                </a:solidFill>
                <a:latin typeface="Aptos"/>
                <a:ea typeface="Aptos"/>
                <a:cs typeface="Aptos"/>
              </a:rPr>
              <a:t>статьи для углублённого изучения</a:t>
            </a: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B4E8BE40-4BF9-403C-B492-F2FCE8795B1E}"/>
              </a:ext>
            </a:extLst>
          </p:cNvPr>
          <p:cNvSpPr>
            <a:spLocks noGrp="1"/>
          </p:cNvSpPr>
          <p:nvPr/>
        </p:nvSpPr>
        <p:spPr>
          <a:xfrm>
            <a:off x="5238750" y="2057400"/>
            <a:ext cx="4095750" cy="3905250"/>
          </a:xfrm>
          <a:prstGeom prst="roundRect">
            <a:avLst>
              <a:gd name="adj" fmla="val 3902"/>
            </a:avLst>
          </a:prstGeom>
          <a:solidFill>
            <a:srgbClr val="030303"/>
          </a:solidFill>
          <a:ln w="9525">
            <a:solidFill>
              <a:srgbClr val="343438"/>
            </a:solidFill>
            <a:prstDash val="solid"/>
          </a:ln>
        </p:spPr>
      </p:sp>
      <p:pic>
        <p:nvPicPr>
          <p:cNvPr id="43" name="Рисунок 42"/>
          <p:cNvPicPr>
            <a:picLocks noChangeAspect="1"/>
          </p:cNvPicPr>
          <p:nvPr/>
        </p:nvPicPr>
        <p:blipFill>
          <a:blip r:embed="rId3"/>
          <a:srcRect t="9" b="9"/>
          <a:stretch>
            <a:fillRect/>
          </a:stretch>
        </p:blipFill>
        <p:spPr>
          <a:xfrm>
            <a:off x="5467350" y="2266950"/>
            <a:ext cx="3638550" cy="2286000"/>
          </a:xfrm>
          <a:prstGeom prst="roundRect">
            <a:avLst>
              <a:gd name="adj" fmla="val 5000"/>
            </a:avLst>
          </a:prstGeom>
        </p:spPr>
      </p:pic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6B41AF15-F3A3-43DA-8E25-5DF58A7EDC51}"/>
              </a:ext>
            </a:extLst>
          </p:cNvPr>
          <p:cNvSpPr>
            <a:spLocks noGrp="1"/>
          </p:cNvSpPr>
          <p:nvPr/>
        </p:nvSpPr>
        <p:spPr>
          <a:xfrm>
            <a:off x="5467350" y="4800600"/>
            <a:ext cx="1695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7F3EC"/>
                </a:solidFill>
                <a:latin typeface="Aptos"/>
                <a:ea typeface="Aptos"/>
                <a:cs typeface="Aptos"/>
              </a:rPr>
              <a:t>15 вопросов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BA9E4FBF-1BA4-444B-9DB8-EFA979A67DAE}"/>
              </a:ext>
            </a:extLst>
          </p:cNvPr>
          <p:cNvSpPr>
            <a:spLocks noGrp="1"/>
          </p:cNvSpPr>
          <p:nvPr/>
        </p:nvSpPr>
        <p:spPr>
          <a:xfrm>
            <a:off x="5467350" y="5191125"/>
            <a:ext cx="3333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AAA7A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AA7A2"/>
                </a:solidFill>
                <a:latin typeface="Aptos"/>
                <a:ea typeface="Aptos"/>
                <a:cs typeface="Aptos"/>
              </a:rPr>
              <a:t>Большой квиз с сохранением результата в личном кабинете.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CEF06FBD-E509-487B-9767-E75C087CAE6B}"/>
              </a:ext>
            </a:extLst>
          </p:cNvPr>
          <p:cNvSpPr>
            <a:spLocks noGrp="1"/>
          </p:cNvSpPr>
          <p:nvPr/>
        </p:nvSpPr>
        <p:spPr>
          <a:xfrm>
            <a:off x="9639300" y="2057400"/>
            <a:ext cx="1866900" cy="3905250"/>
          </a:xfrm>
          <a:prstGeom prst="roundRect">
            <a:avLst>
              <a:gd name="adj" fmla="val 8163"/>
            </a:avLst>
          </a:prstGeom>
          <a:solidFill>
            <a:srgbClr val="F7F3EC"/>
          </a:solidFill>
          <a:ln w="0">
            <a:solidFill>
              <a:srgbClr val="F7F3EC"/>
            </a:solidFill>
            <a:prstDash val="solid"/>
          </a:ln>
        </p:spPr>
      </p:sp>
      <p:pic>
        <p:nvPicPr>
          <p:cNvPr id="47" name="Рисунок 4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848850" y="2286000"/>
            <a:ext cx="1447800" cy="1447800"/>
          </a:xfrm>
          <a:prstGeom prst="rect">
            <a:avLst/>
          </a:prstGeom>
        </p:spPr>
      </p:pic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5569F813-374B-4DFF-B23F-8C52F2F37A59}"/>
              </a:ext>
            </a:extLst>
          </p:cNvPr>
          <p:cNvSpPr>
            <a:spLocks noGrp="1"/>
          </p:cNvSpPr>
          <p:nvPr/>
        </p:nvSpPr>
        <p:spPr>
          <a:xfrm>
            <a:off x="9848850" y="4000500"/>
            <a:ext cx="1447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03030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30303"/>
                </a:solidFill>
                <a:latin typeface="Aptos"/>
                <a:ea typeface="Aptos"/>
                <a:cs typeface="Aptos"/>
              </a:rPr>
              <a:t>Открыть сайт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BA9D9410-D3E3-46D8-9714-5D72818BA50D}"/>
              </a:ext>
            </a:extLst>
          </p:cNvPr>
          <p:cNvSpPr>
            <a:spLocks noGrp="1"/>
          </p:cNvSpPr>
          <p:nvPr/>
        </p:nvSpPr>
        <p:spPr>
          <a:xfrm>
            <a:off x="9753600" y="4362450"/>
            <a:ext cx="16383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03030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30303"/>
                </a:solidFill>
                <a:latin typeface="Aptos"/>
                <a:ea typeface="Aptos"/>
                <a:cs typeface="Aptos"/>
              </a:rPr>
              <a:t>мозаикакультур.рф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63E68296-2927-4847-808F-D6F548AE78DA}"/>
              </a:ext>
            </a:extLst>
          </p:cNvPr>
          <p:cNvSpPr>
            <a:spLocks noGrp="1"/>
          </p:cNvSpPr>
          <p:nvPr/>
        </p:nvSpPr>
        <p:spPr>
          <a:xfrm>
            <a:off x="9810750" y="542925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5A5A5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5A5A"/>
                </a:solidFill>
                <a:latin typeface="Aptos"/>
                <a:ea typeface="Aptos"/>
                <a:cs typeface="Aptos"/>
              </a:rPr>
              <a:t>Сканируйте камерой</a:t>
            </a:r>
          </a:p>
        </p:txBody>
      </p:sp>
    </p:spTree>
    <p:extLst>
      <p:ext uri="{BB962C8B-B14F-4D97-AF65-F5344CB8AC3E}">
        <p14:creationId xmlns:p14="http://schemas.microsoft.com/office/powerpoint/2010/main" val="263764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30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4C140316-F879-48E3-94E4-FB553CE1EF4A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1122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11222"/>
                </a:solidFill>
                <a:latin typeface="Aptos"/>
                <a:ea typeface="Aptos"/>
                <a:cs typeface="Aptos"/>
              </a:rPr>
              <a:t>ПОЧЕМУ ЭТА МОДЕЛЬ РАБОТАЕТ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4D7FE22-F099-4AE9-9294-99F5E0C7D357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108204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3900" b="0">
                <a:solidFill>
                  <a:srgbClr val="F7F3EC"/>
                </a:solidFill>
                <a:latin typeface="Leporid"/>
                <a:ea typeface="Leporid"/>
                <a:cs typeface="Leporid"/>
              </a:defRPr>
            </a:pPr>
            <a:r>
              <a:rPr sz="3900" b="0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Проект готов к масштабу,</a:t>
            </a:r>
          </a:p>
          <a:p>
            <a:pPr algn="l">
              <a:defRPr sz="3900" b="0">
                <a:solidFill>
                  <a:srgbClr val="F7F3EC"/>
                </a:solidFill>
                <a:latin typeface="Leporid"/>
                <a:ea typeface="Leporid"/>
                <a:cs typeface="Leporid"/>
              </a:defRPr>
            </a:pPr>
            <a:r>
              <a:rPr sz="3900" b="0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потому что не зависит от одного события.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B9493C1-F420-4F32-BD6E-D6C36CCC78F0}"/>
              </a:ext>
            </a:extLst>
          </p:cNvPr>
          <p:cNvSpPr>
            <a:spLocks noGrp="1"/>
          </p:cNvSpPr>
          <p:nvPr/>
        </p:nvSpPr>
        <p:spPr>
          <a:xfrm>
            <a:off x="11353800" y="64198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AAA7A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AA7A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E0CD022-9ED4-4659-9C40-5EE28FC69F6C}"/>
              </a:ext>
            </a:extLst>
          </p:cNvPr>
          <p:cNvSpPr>
            <a:spLocks noGrp="1"/>
          </p:cNvSpPr>
          <p:nvPr/>
        </p:nvSpPr>
        <p:spPr>
          <a:xfrm>
            <a:off x="685800" y="6505575"/>
            <a:ext cx="10287000" cy="9525"/>
          </a:xfrm>
          <a:prstGeom prst="rect">
            <a:avLst/>
          </a:prstGeom>
          <a:solidFill>
            <a:srgbClr val="343438"/>
          </a:solidFill>
          <a:ln w="0">
            <a:solidFill>
              <a:srgbClr val="343438"/>
            </a:solidFill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FB1471E-54E5-4BF5-AFC8-55BDD30129CB}"/>
              </a:ext>
            </a:extLst>
          </p:cNvPr>
          <p:cNvSpPr>
            <a:spLocks noGrp="1"/>
          </p:cNvSpPr>
          <p:nvPr/>
        </p:nvSpPr>
        <p:spPr>
          <a:xfrm>
            <a:off x="685800" y="2143125"/>
            <a:ext cx="476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1122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1122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6DC5991-CAAE-49D1-AC63-C05952B3F6F2}"/>
              </a:ext>
            </a:extLst>
          </p:cNvPr>
          <p:cNvSpPr>
            <a:spLocks noGrp="1"/>
          </p:cNvSpPr>
          <p:nvPr/>
        </p:nvSpPr>
        <p:spPr>
          <a:xfrm>
            <a:off x="1390650" y="2143125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3EC"/>
                </a:solidFill>
                <a:latin typeface="Aptos"/>
                <a:ea typeface="Aptos"/>
                <a:cs typeface="Aptos"/>
              </a:rPr>
              <a:t>ЖИВОЕ + ЦИФРОВОЕ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57BE9F0-E54B-42F3-8ED5-B25D945F423D}"/>
              </a:ext>
            </a:extLst>
          </p:cNvPr>
          <p:cNvSpPr>
            <a:spLocks noGrp="1"/>
          </p:cNvSpPr>
          <p:nvPr/>
        </p:nvSpPr>
        <p:spPr>
          <a:xfrm>
            <a:off x="4514850" y="2124075"/>
            <a:ext cx="62674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7F3EC"/>
                </a:solidFill>
                <a:latin typeface="Aptos"/>
                <a:ea typeface="Aptos"/>
                <a:cs typeface="Aptos"/>
              </a:rPr>
              <a:t>Мероприятие создаёт интерес, сайт помогает продолжить изучение.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CF53053-5170-4846-A331-CBFB4906E24E}"/>
              </a:ext>
            </a:extLst>
          </p:cNvPr>
          <p:cNvSpPr>
            <a:spLocks noGrp="1"/>
          </p:cNvSpPr>
          <p:nvPr/>
        </p:nvSpPr>
        <p:spPr>
          <a:xfrm>
            <a:off x="1390650" y="2733675"/>
            <a:ext cx="9391650" cy="9525"/>
          </a:xfrm>
          <a:prstGeom prst="rect">
            <a:avLst/>
          </a:prstGeom>
          <a:solidFill>
            <a:srgbClr val="343438"/>
          </a:solidFill>
          <a:ln w="0">
            <a:solidFill>
              <a:srgbClr val="343438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DBF2950-0D6D-40AC-AD3B-1AFA0C329E20}"/>
              </a:ext>
            </a:extLst>
          </p:cNvPr>
          <p:cNvSpPr>
            <a:spLocks noGrp="1"/>
          </p:cNvSpPr>
          <p:nvPr/>
        </p:nvSpPr>
        <p:spPr>
          <a:xfrm>
            <a:off x="685800" y="3019425"/>
            <a:ext cx="476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1122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1122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DC28A84-DA63-46B7-AFCF-9BC69C0DE840}"/>
              </a:ext>
            </a:extLst>
          </p:cNvPr>
          <p:cNvSpPr>
            <a:spLocks noGrp="1"/>
          </p:cNvSpPr>
          <p:nvPr/>
        </p:nvSpPr>
        <p:spPr>
          <a:xfrm>
            <a:off x="1390650" y="3019425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3EC"/>
                </a:solidFill>
                <a:latin typeface="Aptos"/>
                <a:ea typeface="Aptos"/>
                <a:cs typeface="Aptos"/>
              </a:rPr>
              <a:t>СОВРЕМЕННЫЙ ЯЗЫК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70ABAC0-37B4-4923-B456-FBFB0A637CFF}"/>
              </a:ext>
            </a:extLst>
          </p:cNvPr>
          <p:cNvSpPr>
            <a:spLocks noGrp="1"/>
          </p:cNvSpPr>
          <p:nvPr/>
        </p:nvSpPr>
        <p:spPr>
          <a:xfrm>
            <a:off x="4514850" y="3000375"/>
            <a:ext cx="62674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7F3EC"/>
                </a:solidFill>
                <a:latin typeface="Aptos"/>
                <a:ea typeface="Aptos"/>
                <a:cs typeface="Aptos"/>
              </a:rPr>
              <a:t>Визуальная подача и интерактивные форматы понятны молодой аудитории.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E40DB2A0-8FA2-49B4-B500-247D7B1AD253}"/>
              </a:ext>
            </a:extLst>
          </p:cNvPr>
          <p:cNvSpPr>
            <a:spLocks noGrp="1"/>
          </p:cNvSpPr>
          <p:nvPr/>
        </p:nvSpPr>
        <p:spPr>
          <a:xfrm>
            <a:off x="1390650" y="3609975"/>
            <a:ext cx="9391650" cy="9525"/>
          </a:xfrm>
          <a:prstGeom prst="rect">
            <a:avLst/>
          </a:prstGeom>
          <a:solidFill>
            <a:srgbClr val="343438"/>
          </a:solidFill>
          <a:ln w="0">
            <a:solidFill>
              <a:srgbClr val="343438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10A5B5B2-CFAF-4886-8B20-E6CC08741044}"/>
              </a:ext>
            </a:extLst>
          </p:cNvPr>
          <p:cNvSpPr>
            <a:spLocks noGrp="1"/>
          </p:cNvSpPr>
          <p:nvPr/>
        </p:nvSpPr>
        <p:spPr>
          <a:xfrm>
            <a:off x="685800" y="3895725"/>
            <a:ext cx="476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1122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1122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9B4A5D5-E5DA-4F88-B183-D379B9FE5945}"/>
              </a:ext>
            </a:extLst>
          </p:cNvPr>
          <p:cNvSpPr>
            <a:spLocks noGrp="1"/>
          </p:cNvSpPr>
          <p:nvPr/>
        </p:nvSpPr>
        <p:spPr>
          <a:xfrm>
            <a:off x="1390650" y="3895725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3EC"/>
                </a:solidFill>
                <a:latin typeface="Aptos"/>
                <a:ea typeface="Aptos"/>
                <a:cs typeface="Aptos"/>
              </a:rPr>
              <a:t>ЕДИНАЯ СИСТЕМА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7DB951C-5C9F-4DE0-9A5B-00E7C7BE2D98}"/>
              </a:ext>
            </a:extLst>
          </p:cNvPr>
          <p:cNvSpPr>
            <a:spLocks noGrp="1"/>
          </p:cNvSpPr>
          <p:nvPr/>
        </p:nvSpPr>
        <p:spPr>
          <a:xfrm>
            <a:off x="4514850" y="3876675"/>
            <a:ext cx="62674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7F3EC"/>
                </a:solidFill>
                <a:latin typeface="Aptos"/>
                <a:ea typeface="Aptos"/>
                <a:cs typeface="Aptos"/>
              </a:rPr>
              <a:t>Культура, образование и технологии собраны в одном маршруте.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8FE93A27-974C-4195-84C4-C2832C19D2D8}"/>
              </a:ext>
            </a:extLst>
          </p:cNvPr>
          <p:cNvSpPr>
            <a:spLocks noGrp="1"/>
          </p:cNvSpPr>
          <p:nvPr/>
        </p:nvSpPr>
        <p:spPr>
          <a:xfrm>
            <a:off x="1390650" y="4486275"/>
            <a:ext cx="9391650" cy="9525"/>
          </a:xfrm>
          <a:prstGeom prst="rect">
            <a:avLst/>
          </a:prstGeom>
          <a:solidFill>
            <a:srgbClr val="343438"/>
          </a:solidFill>
          <a:ln w="0">
            <a:solidFill>
              <a:srgbClr val="343438"/>
            </a:solidFill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C1609802-CC41-46C1-9734-5C0F1A60931B}"/>
              </a:ext>
            </a:extLst>
          </p:cNvPr>
          <p:cNvSpPr>
            <a:spLocks noGrp="1"/>
          </p:cNvSpPr>
          <p:nvPr/>
        </p:nvSpPr>
        <p:spPr>
          <a:xfrm>
            <a:off x="685800" y="4772025"/>
            <a:ext cx="476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1122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1122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B1187C8D-2D3B-4C8F-BA7B-119646DFDD3F}"/>
              </a:ext>
            </a:extLst>
          </p:cNvPr>
          <p:cNvSpPr>
            <a:spLocks noGrp="1"/>
          </p:cNvSpPr>
          <p:nvPr/>
        </p:nvSpPr>
        <p:spPr>
          <a:xfrm>
            <a:off x="1390650" y="4772025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3EC"/>
                </a:solidFill>
                <a:latin typeface="Aptos"/>
                <a:ea typeface="Aptos"/>
                <a:cs typeface="Aptos"/>
              </a:rPr>
              <a:t>ТИРАЖИРУЕМЫЙ ФОРМАТ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44156567-50E2-4490-BE6C-81557F8D632F}"/>
              </a:ext>
            </a:extLst>
          </p:cNvPr>
          <p:cNvSpPr>
            <a:spLocks noGrp="1"/>
          </p:cNvSpPr>
          <p:nvPr/>
        </p:nvSpPr>
        <p:spPr>
          <a:xfrm>
            <a:off x="4514850" y="4752975"/>
            <a:ext cx="62674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7F3EC"/>
                </a:solidFill>
                <a:latin typeface="Aptos"/>
                <a:ea typeface="Aptos"/>
                <a:cs typeface="Aptos"/>
              </a:rPr>
              <a:t>Лекции, выставки и мастер-классы можно проводить на новых площадках.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41127192-A3C0-4927-80C6-E0F19D008F49}"/>
              </a:ext>
            </a:extLst>
          </p:cNvPr>
          <p:cNvSpPr>
            <a:spLocks noGrp="1"/>
          </p:cNvSpPr>
          <p:nvPr/>
        </p:nvSpPr>
        <p:spPr>
          <a:xfrm>
            <a:off x="1390650" y="5362575"/>
            <a:ext cx="9391650" cy="9525"/>
          </a:xfrm>
          <a:prstGeom prst="rect">
            <a:avLst/>
          </a:prstGeom>
          <a:solidFill>
            <a:srgbClr val="343438"/>
          </a:solidFill>
          <a:ln w="0">
            <a:solidFill>
              <a:srgbClr val="343438"/>
            </a:solidFill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E91A907-1D41-4EFB-8709-4F94243B8458}"/>
              </a:ext>
            </a:extLst>
          </p:cNvPr>
          <p:cNvSpPr>
            <a:spLocks noGrp="1"/>
          </p:cNvSpPr>
          <p:nvPr/>
        </p:nvSpPr>
        <p:spPr>
          <a:xfrm>
            <a:off x="10934700" y="2143125"/>
            <a:ext cx="571500" cy="3219450"/>
          </a:xfrm>
          <a:prstGeom prst="rect">
            <a:avLst/>
          </a:prstGeom>
          <a:solidFill>
            <a:srgbClr val="F11222"/>
          </a:solidFill>
          <a:ln w="0">
            <a:solidFill>
              <a:srgbClr val="F11222"/>
            </a:solidFill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11C602E2-03C4-4E9F-B179-8F90008D97A3}"/>
              </a:ext>
            </a:extLst>
          </p:cNvPr>
          <p:cNvSpPr>
            <a:spLocks noGrp="1"/>
          </p:cNvSpPr>
          <p:nvPr/>
        </p:nvSpPr>
        <p:spPr>
          <a:xfrm>
            <a:off x="11001375" y="3219450"/>
            <a:ext cx="4381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3900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7F3EC"/>
                </a:solidFill>
                <a:latin typeface="Aptos"/>
                <a:ea typeface="Aptos"/>
                <a:cs typeface="Aptos"/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1822224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F2DF671E-AFF8-4E03-A0F1-879B980E6EB6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1122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11222"/>
                </a:solidFill>
                <a:latin typeface="Aptos"/>
                <a:ea typeface="Aptos"/>
                <a:cs typeface="Aptos"/>
              </a:rPr>
              <a:t>СЛЕДУЮЩИЙ ШАГ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A10FA7B-F53D-4227-895F-1D91045EA7DB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809625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3750" b="0">
                <a:solidFill>
                  <a:srgbClr val="F7F3EC"/>
                </a:solidFill>
                <a:latin typeface="Leporid"/>
                <a:ea typeface="Leporid"/>
                <a:cs typeface="Leporid"/>
              </a:defRPr>
            </a:pPr>
            <a:r>
              <a:rPr sz="3750" b="0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Поддержка поможет сделать</a:t>
            </a:r>
          </a:p>
          <a:p>
            <a:pPr algn="l">
              <a:defRPr sz="3750" b="0">
                <a:solidFill>
                  <a:srgbClr val="F7F3EC"/>
                </a:solidFill>
                <a:latin typeface="Leporid"/>
                <a:ea typeface="Leporid"/>
                <a:cs typeface="Leporid"/>
              </a:defRPr>
            </a:pPr>
            <a:r>
              <a:rPr sz="3750" b="0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проект региональной программой.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DD3A6CB-B582-48EF-BE94-0C2CC51B9246}"/>
              </a:ext>
            </a:extLst>
          </p:cNvPr>
          <p:cNvSpPr>
            <a:spLocks noGrp="1"/>
          </p:cNvSpPr>
          <p:nvPr/>
        </p:nvSpPr>
        <p:spPr>
          <a:xfrm>
            <a:off x="685800" y="2266950"/>
            <a:ext cx="542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7F3EC"/>
                </a:solidFill>
                <a:latin typeface="Aptos"/>
                <a:ea typeface="Aptos"/>
                <a:cs typeface="Aptos"/>
              </a:rPr>
              <a:t>Нам нужна поддержка правительства края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07EEF8E-5412-4F6A-BECA-8CA95F6A3701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419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1122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1122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523802B-2892-4A23-A0A8-C26C3D872438}"/>
              </a:ext>
            </a:extLst>
          </p:cNvPr>
          <p:cNvSpPr>
            <a:spLocks noGrp="1"/>
          </p:cNvSpPr>
          <p:nvPr/>
        </p:nvSpPr>
        <p:spPr>
          <a:xfrm>
            <a:off x="1257300" y="28575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3EC"/>
                </a:solidFill>
                <a:latin typeface="Aptos"/>
                <a:ea typeface="Aptos"/>
                <a:cs typeface="Aptos"/>
              </a:rPr>
              <a:t>ОРГАНИЗАЦИОННАЯ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414441B-A4D1-4C3C-A2C8-3B36A7CC0E93}"/>
              </a:ext>
            </a:extLst>
          </p:cNvPr>
          <p:cNvSpPr>
            <a:spLocks noGrp="1"/>
          </p:cNvSpPr>
          <p:nvPr/>
        </p:nvSpPr>
        <p:spPr>
          <a:xfrm>
            <a:off x="3371850" y="28384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7F3EC"/>
                </a:solidFill>
                <a:latin typeface="Aptos"/>
                <a:ea typeface="Aptos"/>
                <a:cs typeface="Aptos"/>
              </a:rPr>
              <a:t>площадки и включение в молодёжные и образовательные события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E9B77A7-387B-4245-92E4-839543E01879}"/>
              </a:ext>
            </a:extLst>
          </p:cNvPr>
          <p:cNvSpPr>
            <a:spLocks noGrp="1"/>
          </p:cNvSpPr>
          <p:nvPr/>
        </p:nvSpPr>
        <p:spPr>
          <a:xfrm>
            <a:off x="1257300" y="3400425"/>
            <a:ext cx="7067550" cy="9525"/>
          </a:xfrm>
          <a:prstGeom prst="rect">
            <a:avLst/>
          </a:prstGeom>
          <a:solidFill>
            <a:srgbClr val="343438"/>
          </a:solidFill>
          <a:ln w="0">
            <a:solidFill>
              <a:srgbClr val="343438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A23692F-787D-4232-A2FB-3BD84968EAEF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19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1122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1122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AB1B2B6-94FD-4D85-B619-98492E89994F}"/>
              </a:ext>
            </a:extLst>
          </p:cNvPr>
          <p:cNvSpPr>
            <a:spLocks noGrp="1"/>
          </p:cNvSpPr>
          <p:nvPr/>
        </p:nvSpPr>
        <p:spPr>
          <a:xfrm>
            <a:off x="1257300" y="363855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3EC"/>
                </a:solidFill>
                <a:latin typeface="Aptos"/>
                <a:ea typeface="Aptos"/>
                <a:cs typeface="Aptos"/>
              </a:rPr>
              <a:t>ЭКСПЕРТНАЯ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40312F8-9150-4987-9EA2-031686540505}"/>
              </a:ext>
            </a:extLst>
          </p:cNvPr>
          <p:cNvSpPr>
            <a:spLocks noGrp="1"/>
          </p:cNvSpPr>
          <p:nvPr/>
        </p:nvSpPr>
        <p:spPr>
          <a:xfrm>
            <a:off x="3371850" y="36195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7F3EC"/>
                </a:solidFill>
                <a:latin typeface="Aptos"/>
                <a:ea typeface="Aptos"/>
                <a:cs typeface="Aptos"/>
              </a:rPr>
              <a:t>контакт с профильными учреждениями и представителями народов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5F66AF0-05FA-466E-8B9D-9FB2305BB338}"/>
              </a:ext>
            </a:extLst>
          </p:cNvPr>
          <p:cNvSpPr>
            <a:spLocks noGrp="1"/>
          </p:cNvSpPr>
          <p:nvPr/>
        </p:nvSpPr>
        <p:spPr>
          <a:xfrm>
            <a:off x="1257300" y="4181475"/>
            <a:ext cx="7067550" cy="9525"/>
          </a:xfrm>
          <a:prstGeom prst="rect">
            <a:avLst/>
          </a:prstGeom>
          <a:solidFill>
            <a:srgbClr val="343438"/>
          </a:solidFill>
          <a:ln w="0">
            <a:solidFill>
              <a:srgbClr val="343438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1BEA99A-8C2F-4167-A759-DCB9D9A85548}"/>
              </a:ext>
            </a:extLst>
          </p:cNvPr>
          <p:cNvSpPr>
            <a:spLocks noGrp="1"/>
          </p:cNvSpPr>
          <p:nvPr/>
        </p:nvSpPr>
        <p:spPr>
          <a:xfrm>
            <a:off x="685800" y="4419600"/>
            <a:ext cx="419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1122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1122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26947B03-BB4A-4B57-9A52-248E10D83949}"/>
              </a:ext>
            </a:extLst>
          </p:cNvPr>
          <p:cNvSpPr>
            <a:spLocks noGrp="1"/>
          </p:cNvSpPr>
          <p:nvPr/>
        </p:nvSpPr>
        <p:spPr>
          <a:xfrm>
            <a:off x="1257300" y="44196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3EC"/>
                </a:solidFill>
                <a:latin typeface="Aptos"/>
                <a:ea typeface="Aptos"/>
                <a:cs typeface="Aptos"/>
              </a:rPr>
              <a:t>ИНФОРМАЦИОННАЯ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7D49CE1-88E5-4ADF-A7C6-2907E296699D}"/>
              </a:ext>
            </a:extLst>
          </p:cNvPr>
          <p:cNvSpPr>
            <a:spLocks noGrp="1"/>
          </p:cNvSpPr>
          <p:nvPr/>
        </p:nvSpPr>
        <p:spPr>
          <a:xfrm>
            <a:off x="3371850" y="44005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7F3EC"/>
                </a:solidFill>
                <a:latin typeface="Aptos"/>
                <a:ea typeface="Aptos"/>
                <a:cs typeface="Aptos"/>
              </a:rPr>
              <a:t>доступ к региональной аудитории и партнёрским каналам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24C8E72-3763-4F78-9772-8F0D231A4B72}"/>
              </a:ext>
            </a:extLst>
          </p:cNvPr>
          <p:cNvSpPr>
            <a:spLocks noGrp="1"/>
          </p:cNvSpPr>
          <p:nvPr/>
        </p:nvSpPr>
        <p:spPr>
          <a:xfrm>
            <a:off x="1257300" y="4962525"/>
            <a:ext cx="7067550" cy="9525"/>
          </a:xfrm>
          <a:prstGeom prst="rect">
            <a:avLst/>
          </a:prstGeom>
          <a:solidFill>
            <a:srgbClr val="343438"/>
          </a:solidFill>
          <a:ln w="0">
            <a:solidFill>
              <a:srgbClr val="343438"/>
            </a:solidFill>
            <a:prstDash val="solid"/>
          </a:ln>
        </p:spPr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88EAEC21-12A6-4590-AED6-AF4F18159A4C}"/>
              </a:ext>
            </a:extLst>
          </p:cNvPr>
          <p:cNvSpPr>
            <a:spLocks noGrp="1"/>
          </p:cNvSpPr>
          <p:nvPr/>
        </p:nvSpPr>
        <p:spPr>
          <a:xfrm>
            <a:off x="8858250" y="2038350"/>
            <a:ext cx="2647950" cy="3314700"/>
          </a:xfrm>
          <a:prstGeom prst="roundRect">
            <a:avLst>
              <a:gd name="adj" fmla="val 5755"/>
            </a:avLst>
          </a:prstGeom>
          <a:solidFill>
            <a:srgbClr val="F11222"/>
          </a:solidFill>
          <a:ln w="0">
            <a:solidFill>
              <a:srgbClr val="F11222"/>
            </a:solidFill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B63A9E63-BFDC-4761-A77C-7C44467C09F7}"/>
              </a:ext>
            </a:extLst>
          </p:cNvPr>
          <p:cNvSpPr>
            <a:spLocks noGrp="1"/>
          </p:cNvSpPr>
          <p:nvPr/>
        </p:nvSpPr>
        <p:spPr>
          <a:xfrm>
            <a:off x="9163050" y="234315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F3EC"/>
                </a:solidFill>
                <a:latin typeface="Aptos"/>
                <a:ea typeface="Aptos"/>
                <a:cs typeface="Aptos"/>
              </a:rPr>
              <a:t>Что это даст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CDEC14E8-A095-4CBA-9D4F-06BC12E8653A}"/>
              </a:ext>
            </a:extLst>
          </p:cNvPr>
          <p:cNvSpPr>
            <a:spLocks noGrp="1"/>
          </p:cNvSpPr>
          <p:nvPr/>
        </p:nvSpPr>
        <p:spPr>
          <a:xfrm>
            <a:off x="9163050" y="2876550"/>
            <a:ext cx="20002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025" b="0">
                <a:solidFill>
                  <a:srgbClr val="F7F3EC"/>
                </a:solidFill>
                <a:latin typeface="Leporid"/>
                <a:ea typeface="Leporid"/>
                <a:cs typeface="Leporid"/>
              </a:defRPr>
            </a:pPr>
            <a:r>
              <a:rPr sz="2025" b="0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Больше точных материалов.</a:t>
            </a:r>
          </a:p>
          <a:p>
            <a:pPr algn="l">
              <a:defRPr sz="2025" b="0">
                <a:solidFill>
                  <a:srgbClr val="F7F3EC"/>
                </a:solidFill>
                <a:latin typeface="Leporid"/>
                <a:ea typeface="Leporid"/>
                <a:cs typeface="Leporid"/>
              </a:defRPr>
            </a:pPr>
            <a:r>
              <a:rPr sz="2025" b="0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Больше живых встреч.</a:t>
            </a:r>
          </a:p>
          <a:p>
            <a:pPr algn="l">
              <a:defRPr sz="2025" b="0">
                <a:solidFill>
                  <a:srgbClr val="F7F3EC"/>
                </a:solidFill>
                <a:latin typeface="Leporid"/>
                <a:ea typeface="Leporid"/>
                <a:cs typeface="Leporid"/>
              </a:defRPr>
            </a:pPr>
            <a:r>
              <a:rPr sz="2025" b="0">
                <a:solidFill>
                  <a:srgbClr val="F7F3EC"/>
                </a:solidFill>
                <a:latin typeface="Leporid"/>
                <a:ea typeface="Leporid"/>
                <a:cs typeface="Leporid"/>
              </a:rPr>
              <a:t>Больше молодых людей в проекте.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58E3AB09-3384-4C63-8F43-B30B55D1A282}"/>
              </a:ext>
            </a:extLst>
          </p:cNvPr>
          <p:cNvSpPr>
            <a:spLocks noGrp="1"/>
          </p:cNvSpPr>
          <p:nvPr/>
        </p:nvSpPr>
        <p:spPr>
          <a:xfrm>
            <a:off x="685800" y="5810250"/>
            <a:ext cx="923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AAA7A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AA7A2"/>
                </a:solidFill>
                <a:latin typeface="Aptos"/>
                <a:ea typeface="Aptos"/>
                <a:cs typeface="Aptos"/>
              </a:rPr>
              <a:t>«Мозаика культур» показывает Дальний Восток как пространство множества живых культур, языков и историй.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AE3D5F79-491C-4802-B47B-1F94369A93F5}"/>
              </a:ext>
            </a:extLst>
          </p:cNvPr>
          <p:cNvSpPr>
            <a:spLocks noGrp="1"/>
          </p:cNvSpPr>
          <p:nvPr/>
        </p:nvSpPr>
        <p:spPr>
          <a:xfrm>
            <a:off x="9544050" y="5905500"/>
            <a:ext cx="1962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F7F3E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3EC"/>
                </a:solidFill>
                <a:latin typeface="Aptos"/>
                <a:ea typeface="Aptos"/>
                <a:cs typeface="Aptos"/>
              </a:rPr>
              <a:t>мозаикакультур.рф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107775E6-16A0-41B0-B965-BEEAE8BBD16C}"/>
              </a:ext>
            </a:extLst>
          </p:cNvPr>
          <p:cNvSpPr>
            <a:spLocks noGrp="1"/>
          </p:cNvSpPr>
          <p:nvPr/>
        </p:nvSpPr>
        <p:spPr>
          <a:xfrm>
            <a:off x="11353800" y="64198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1050" b="0">
                <a:solidFill>
                  <a:srgbClr val="AAA7A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AA7A2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8EFB275D-06F9-4696-B38E-6E2476241572}"/>
              </a:ext>
            </a:extLst>
          </p:cNvPr>
          <p:cNvSpPr>
            <a:spLocks noGrp="1"/>
          </p:cNvSpPr>
          <p:nvPr/>
        </p:nvSpPr>
        <p:spPr>
          <a:xfrm>
            <a:off x="685800" y="6505575"/>
            <a:ext cx="10287000" cy="9525"/>
          </a:xfrm>
          <a:prstGeom prst="rect">
            <a:avLst/>
          </a:prstGeom>
          <a:solidFill>
            <a:srgbClr val="343438"/>
          </a:solidFill>
          <a:ln w="0">
            <a:solidFill>
              <a:srgbClr val="34343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6068566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428</Words>
  <Application>Microsoft Office PowerPoint</Application>
  <DocSecurity>0</DocSecurity>
  <PresentationFormat>Широкоэкранный</PresentationFormat>
  <Paragraphs>107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Aptos</vt:lpstr>
      <vt:lpstr>Calibri</vt:lpstr>
      <vt:lpstr>Leporid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Дмитрий Константинов</cp:lastModifiedBy>
  <cp:revision>1</cp:revision>
  <dcterms:created xsi:type="dcterms:W3CDTF">2026-07-12T18:13:20Z</dcterms:created>
  <dcterms:modified xsi:type="dcterms:W3CDTF">2026-07-12T18:48:28Z</dcterms:modified>
</cp:coreProperties>
</file>